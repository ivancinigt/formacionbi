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10"/>
    <p:sldId id="274" r:id="rId9"/>
    <p:sldId id="275" r:id="rId8"/>
    <p:sldId id="276" r:id="rId7"/>
    <p:sldId id="277" r:id="rId6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345" r:id="rId100"/>
    <p:sldId id="346" r:id="rId101"/>
    <p:sldId id="347" r:id="rId102"/>
    <p:sldId id="348" r:id="rId103"/>
    <p:sldId id="349" r:id="rId104"/>
    <p:sldId id="350" r:id="rId105"/>
    <p:sldId id="351" r:id="rId106"/>
    <p:sldId id="352" r:id="rId107"/>
    <p:sldId id="353" r:id="rId108"/>
    <p:sldId id="354" r:id="rId109"/>
    <p:sldId id="355" r:id="rId110"/>
    <p:sldId id="356" r:id="rId111"/>
    <p:sldId id="357" r:id="rId112"/>
    <p:sldId id="358" r:id="rId113"/>
    <p:sldId id="359" r:id="rId114"/>
    <p:sldId id="360" r:id="rId115"/>
    <p:sldId id="361" r:id="rId116"/>
    <p:sldId id="362" r:id="rId117"/>
    <p:sldId id="363" r:id="rId118"/>
    <p:sldId id="364" r:id="rId119"/>
    <p:sldId id="365" r:id="rId120"/>
    <p:sldId id="366" r:id="rId121"/>
    <p:sldId id="367" r:id="rId122"/>
    <p:sldId id="368" r:id="rId123"/>
    <p:sldId id="369" r:id="rId124"/>
    <p:sldId id="370" r:id="rId125"/>
    <p:sldId id="371" r:id="rId126"/>
    <p:sldId id="372" r:id="rId127"/>
    <p:sldId id="373" r:id="rId128"/>
    <p:sldId id="374" r:id="rId129"/>
    <p:sldId id="375" r:id="rId130"/>
    <p:sldId id="376" r:id="rId131"/>
    <p:sldId id="377" r:id="rId132"/>
    <p:sldId id="378" r:id="rId133"/>
    <p:sldId id="379" r:id="rId134"/>
    <p:sldId id="380" r:id="rId135"/>
    <p:sldId id="381" r:id="rId136"/>
    <p:sldId id="382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  <p:sldId id="400" r:id="rId155"/>
    <p:sldId id="401" r:id="rId156"/>
    <p:sldId id="402" r:id="rId157"/>
    <p:sldId id="403" r:id="rId158"/>
    <p:sldId id="404" r:id="rId159"/>
    <p:sldId id="405" r:id="rId160"/>
    <p:sldId id="406" r:id="rId161"/>
    <p:sldId id="407" r:id="rId162"/>
    <p:sldId id="408" r:id="rId163"/>
    <p:sldId id="409" r:id="rId164"/>
    <p:sldId id="410" r:id="rId165"/>
    <p:sldId id="411" r:id="rId166"/>
    <p:sldId id="412" r:id="rId167"/>
    <p:sldId id="413" r:id="rId168"/>
    <p:sldId id="414" r:id="rId169"/>
    <p:sldId id="415" r:id="rId170"/>
    <p:sldId id="416" r:id="rId171"/>
    <p:sldId id="417" r:id="rId172"/>
    <p:sldId id="418" r:id="rId173"/>
    <p:sldId id="419" r:id="rId174"/>
    <p:sldId id="420" r:id="rId175"/>
    <p:sldId id="421" r:id="rId176"/>
    <p:sldId id="422" r:id="rId177"/>
    <p:sldId id="423" r:id="rId178"/>
    <p:sldId id="424" r:id="rId179"/>
    <p:sldId id="425" r:id="rId180"/>
    <p:sldId id="426" r:id="rId181"/>
    <p:sldId id="427" r:id="rId182"/>
    <p:sldId id="428" r:id="rId183"/>
    <p:sldId id="429" r:id="rId184"/>
    <p:sldId id="430" r:id="rId185"/>
    <p:sldId id="431" r:id="rId186"/>
    <p:sldId id="432" r:id="rId187"/>
    <p:sldId id="433" r:id="rId188"/>
    <p:sldId id="434" r:id="rId189"/>
    <p:sldId id="435" r:id="rId190"/>
    <p:sldId id="436" r:id="rId191"/>
    <p:sldId id="437" r:id="rId192"/>
    <p:sldId id="438" r:id="rId193"/>
    <p:sldId id="439" r:id="rId194"/>
    <p:sldId id="440" r:id="rId195"/>
    <p:sldId id="441" r:id="rId196"/>
    <p:sldId id="442" r:id="rId197"/>
    <p:sldId id="443" r:id="rId198"/>
    <p:sldId id="444" r:id="rId199"/>
    <p:sldId id="445" r:id="rId200"/>
    <p:sldId id="446" r:id="rId201"/>
    <p:sldId id="447" r:id="rId202"/>
    <p:sldId id="448" r:id="rId203"/>
    <p:sldId id="449" r:id="rId204"/>
    <p:sldId id="450" r:id="rId205"/>
    <p:sldId id="451" r:id="rId206"/>
    <p:sldId id="452" r:id="rId207"/>
    <p:sldId id="453" r:id="rId208"/>
    <p:sldId id="454" r:id="rId209"/>
    <p:sldId id="455" r:id="rId210"/>
    <p:sldId id="456" r:id="rId211"/>
    <p:sldId id="457" r:id="rId212"/>
    <p:sldId id="458" r:id="rId213"/>
    <p:sldId id="459" r:id="rId214"/>
    <p:sldId id="460" r:id="rId215"/>
    <p:sldId id="461" r:id="rId216"/>
    <p:sldId id="462" r:id="rId217"/>
    <p:sldId id="463" r:id="rId218"/>
    <p:sldId id="464" r:id="rId219"/>
    <p:sldId id="465" r:id="rId220"/>
    <p:sldId id="466" r:id="rId221"/>
    <p:sldId id="467" r:id="rId222"/>
    <p:sldId id="468" r:id="rId223"/>
    <p:sldId id="469" r:id="rId224"/>
    <p:sldId id="470" r:id="rId225"/>
    <p:sldId id="471" r:id="rId226"/>
    <p:sldId id="472" r:id="rId227"/>
    <p:sldId id="473" r:id="rId228"/>
    <p:sldId id="474" r:id="rId229"/>
    <p:sldId id="475" r:id="rId230"/>
    <p:sldId id="476" r:id="rId231"/>
    <p:sldId id="477" r:id="rId232"/>
    <p:sldId id="478" r:id="rId233"/>
    <p:sldId id="479" r:id="rId234"/>
    <p:sldId id="480" r:id="rId235"/>
    <p:sldId id="481" r:id="rId236"/>
    <p:sldId id="482" r:id="rId237"/>
    <p:sldId id="483" r:id="rId238"/>
    <p:sldId id="484" r:id="rId239"/>
    <p:sldId id="485" r:id="rId240"/>
    <p:sldId id="486" r:id="rId241"/>
    <p:sldId id="487" r:id="rId242"/>
    <p:sldId id="488" r:id="rId243"/>
    <p:sldId id="489" r:id="rId244"/>
    <p:sldId id="490" r:id="rId245"/>
    <p:sldId id="491" r:id="rId246"/>
    <p:sldId id="492" r:id="rId247"/>
    <p:sldId id="493" r:id="rId248"/>
    <p:sldId id="494" r:id="rId249"/>
    <p:sldId id="495" r:id="rId250"/>
    <p:sldId id="496" r:id="rId251"/>
    <p:sldId id="497" r:id="rId252"/>
    <p:sldId id="498" r:id="rId253"/>
    <p:sldId id="499" r:id="rId254"/>
    <p:sldId id="500" r:id="rId255"/>
    <p:sldId id="501" r:id="rId256"/>
    <p:sldId id="502" r:id="rId257"/>
    <p:sldId id="503" r:id="rId258"/>
    <p:sldId id="504" r:id="rId259"/>
    <p:sldId id="505" r:id="rId260"/>
    <p:sldId id="506" r:id="rId261"/>
    <p:sldId id="507" r:id="rId262"/>
    <p:sldId id="508" r:id="rId263"/>
    <p:sldId id="509" r:id="rId264"/>
    <p:sldId id="510" r:id="rId265"/>
    <p:sldId id="511" r:id="rId266"/>
    <p:sldId id="512" r:id="rId267"/>
    <p:sldId id="513" r:id="rId268"/>
    <p:sldId id="514" r:id="rId269"/>
    <p:sldId id="515" r:id="rId270"/>
    <p:sldId id="516" r:id="rId271"/>
    <p:sldId id="517" r:id="rId272"/>
    <p:sldId id="518" r:id="rId273"/>
    <p:sldId id="519" r:id="rId274"/>
    <p:sldId id="520" r:id="rId275"/>
    <p:sldId id="521" r:id="rId276"/>
    <p:sldId id="522" r:id="rId277"/>
    <p:sldId id="523" r:id="rId278"/>
    <p:sldId id="524" r:id="rId279"/>
    <p:sldId id="525" r:id="rId280"/>
    <p:sldId id="526" r:id="rId281"/>
    <p:sldId id="527" r:id="rId282"/>
    <p:sldId id="528" r:id="rId283"/>
    <p:sldId id="529" r:id="rId284"/>
    <p:sldId id="530" r:id="rId285"/>
    <p:sldId id="531" r:id="rId286"/>
    <p:sldId id="532" r:id="rId287"/>
    <p:sldId id="533" r:id="rId288"/>
    <p:sldId id="534" r:id="rId289"/>
    <p:sldId id="535" r:id="rId290"/>
    <p:sldId id="536" r:id="rId291"/>
    <p:sldId id="537" r:id="rId292"/>
    <p:sldId id="538" r:id="rId293"/>
    <p:sldId id="539" r:id="rId294"/>
    <p:sldId id="540" r:id="rId295"/>
    <p:sldId id="541" r:id="rId296"/>
    <p:sldId id="542" r:id="rId297"/>
    <p:sldId id="543" r:id="rId298"/>
    <p:sldId id="544" r:id="rId299"/>
    <p:sldId id="545" r:id="rId300"/>
    <p:sldId id="546" r:id="rId301"/>
    <p:sldId id="547" r:id="rId302"/>
    <p:sldId id="548" r:id="rId303"/>
    <p:sldId id="549" r:id="rId304"/>
    <p:sldId id="550" r:id="rId305"/>
    <p:sldId id="551" r:id="rId306"/>
    <p:sldId id="552" r:id="rId307"/>
    <p:sldId id="553" r:id="rId308"/>
    <p:sldId id="554" r:id="rId309"/>
    <p:sldId id="555" r:id="rId310"/>
    <p:sldId id="556" r:id="rId311"/>
    <p:sldId id="557" r:id="rId312"/>
    <p:sldId id="558" r:id="rId313"/>
    <p:sldId id="559" r:id="rId314"/>
    <p:sldId id="560" r:id="rId315"/>
    <p:sldId id="561" r:id="rId316"/>
    <p:sldId id="562" r:id="rId317"/>
    <p:sldId id="563" r:id="rId318"/>
    <p:sldId id="564" r:id="rId319"/>
    <p:sldId id="565" r:id="rId320"/>
    <p:sldId id="566" r:id="rId321"/>
    <p:sldId id="567" r:id="rId322"/>
    <p:sldId id="568" r:id="rId323"/>
    <p:sldId id="569" r:id="rId324"/>
    <p:sldId id="570" r:id="rId325"/>
    <p:sldId id="571" r:id="rId326"/>
  </p:sldIdLst>
  <p:sldSz cy="5143500" cx="9144000"/>
  <p:notesSz cx="6858000" cy="9144000"/>
  <p:embeddedFontLst>
    <p:embeddedFont>
      <p:font typeface="Lexend Light"/>
      <p:regular r:id="rId28"/>
      <p:bold r:id="rId29"/>
    </p:embeddedFon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5SXEsMchSKYKeQnDXNYUhlMoO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2.xml"/><Relationship Id="rId7" Type="http://schemas.openxmlformats.org/officeDocument/2006/relationships/slide" Target="slides/slide21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font" Target="fonts/LexendLight-regular.fntdata"/><Relationship Id="rId29" Type="http://schemas.openxmlformats.org/officeDocument/2006/relationships/font" Target="fonts/LexendLight-bold.fntdata"/><Relationship Id="rId30" Type="http://schemas.openxmlformats.org/officeDocument/2006/relationships/font" Target="fonts/Lexend-regular.fntdata"/><Relationship Id="rId31" Type="http://schemas.openxmlformats.org/officeDocument/2006/relationships/font" Target="fonts/Lexend-bold.fntdata"/><Relationship Id="rId32" Type="http://customschemas.google.com/relationships/presentationmetadata" Target="metadata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2" Type="http://schemas.openxmlformats.org/officeDocument/2006/relationships/slide" Target="slides/slide122.xml"/><Relationship Id="rId133" Type="http://schemas.openxmlformats.org/officeDocument/2006/relationships/slide" Target="slides/slide123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3" Type="http://schemas.openxmlformats.org/officeDocument/2006/relationships/slide" Target="slides/slide143.xml"/><Relationship Id="rId154" Type="http://schemas.openxmlformats.org/officeDocument/2006/relationships/slide" Target="slides/slide144.xml"/><Relationship Id="rId155" Type="http://schemas.openxmlformats.org/officeDocument/2006/relationships/slide" Target="slides/slide145.xml"/><Relationship Id="rId156" Type="http://schemas.openxmlformats.org/officeDocument/2006/relationships/slide" Target="slides/slide146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slide" Target="slides/slide153.xml"/><Relationship Id="rId164" Type="http://schemas.openxmlformats.org/officeDocument/2006/relationships/slide" Target="slides/slide154.xml"/><Relationship Id="rId165" Type="http://schemas.openxmlformats.org/officeDocument/2006/relationships/slide" Target="slides/slide155.xml"/><Relationship Id="rId166" Type="http://schemas.openxmlformats.org/officeDocument/2006/relationships/slide" Target="slides/slide156.xml"/><Relationship Id="rId167" Type="http://schemas.openxmlformats.org/officeDocument/2006/relationships/slide" Target="slides/slide157.xml"/><Relationship Id="rId168" Type="http://schemas.openxmlformats.org/officeDocument/2006/relationships/slide" Target="slides/slide158.xml"/><Relationship Id="rId169" Type="http://schemas.openxmlformats.org/officeDocument/2006/relationships/slide" Target="slides/slide159.xml"/><Relationship Id="rId170" Type="http://schemas.openxmlformats.org/officeDocument/2006/relationships/slide" Target="slides/slide160.xml"/><Relationship Id="rId171" Type="http://schemas.openxmlformats.org/officeDocument/2006/relationships/slide" Target="slides/slide161.xml"/><Relationship Id="rId172" Type="http://schemas.openxmlformats.org/officeDocument/2006/relationships/slide" Target="slides/slide162.xml"/><Relationship Id="rId173" Type="http://schemas.openxmlformats.org/officeDocument/2006/relationships/slide" Target="slides/slide163.xml"/><Relationship Id="rId174" Type="http://schemas.openxmlformats.org/officeDocument/2006/relationships/slide" Target="slides/slide164.xml"/><Relationship Id="rId175" Type="http://schemas.openxmlformats.org/officeDocument/2006/relationships/slide" Target="slides/slide165.xml"/><Relationship Id="rId176" Type="http://schemas.openxmlformats.org/officeDocument/2006/relationships/slide" Target="slides/slide166.xml"/><Relationship Id="rId177" Type="http://schemas.openxmlformats.org/officeDocument/2006/relationships/slide" Target="slides/slide167.xml"/><Relationship Id="rId178" Type="http://schemas.openxmlformats.org/officeDocument/2006/relationships/slide" Target="slides/slide168.xml"/><Relationship Id="rId179" Type="http://schemas.openxmlformats.org/officeDocument/2006/relationships/slide" Target="slides/slide169.xml"/><Relationship Id="rId180" Type="http://schemas.openxmlformats.org/officeDocument/2006/relationships/slide" Target="slides/slide170.xml"/><Relationship Id="rId181" Type="http://schemas.openxmlformats.org/officeDocument/2006/relationships/slide" Target="slides/slide171.xml"/><Relationship Id="rId182" Type="http://schemas.openxmlformats.org/officeDocument/2006/relationships/slide" Target="slides/slide172.xml"/><Relationship Id="rId183" Type="http://schemas.openxmlformats.org/officeDocument/2006/relationships/slide" Target="slides/slide173.xml"/><Relationship Id="rId184" Type="http://schemas.openxmlformats.org/officeDocument/2006/relationships/slide" Target="slides/slide174.xml"/><Relationship Id="rId185" Type="http://schemas.openxmlformats.org/officeDocument/2006/relationships/slide" Target="slides/slide175.xml"/><Relationship Id="rId186" Type="http://schemas.openxmlformats.org/officeDocument/2006/relationships/slide" Target="slides/slide176.xml"/><Relationship Id="rId187" Type="http://schemas.openxmlformats.org/officeDocument/2006/relationships/slide" Target="slides/slide177.xml"/><Relationship Id="rId188" Type="http://schemas.openxmlformats.org/officeDocument/2006/relationships/slide" Target="slides/slide178.xml"/><Relationship Id="rId189" Type="http://schemas.openxmlformats.org/officeDocument/2006/relationships/slide" Target="slides/slide179.xml"/><Relationship Id="rId190" Type="http://schemas.openxmlformats.org/officeDocument/2006/relationships/slide" Target="slides/slide180.xml"/><Relationship Id="rId191" Type="http://schemas.openxmlformats.org/officeDocument/2006/relationships/slide" Target="slides/slide181.xml"/><Relationship Id="rId192" Type="http://schemas.openxmlformats.org/officeDocument/2006/relationships/slide" Target="slides/slide182.xml"/><Relationship Id="rId193" Type="http://schemas.openxmlformats.org/officeDocument/2006/relationships/slide" Target="slides/slide183.xml"/><Relationship Id="rId194" Type="http://schemas.openxmlformats.org/officeDocument/2006/relationships/slide" Target="slides/slide184.xml"/><Relationship Id="rId195" Type="http://schemas.openxmlformats.org/officeDocument/2006/relationships/slide" Target="slides/slide185.xml"/><Relationship Id="rId196" Type="http://schemas.openxmlformats.org/officeDocument/2006/relationships/slide" Target="slides/slide186.xml"/><Relationship Id="rId197" Type="http://schemas.openxmlformats.org/officeDocument/2006/relationships/slide" Target="slides/slide187.xml"/><Relationship Id="rId198" Type="http://schemas.openxmlformats.org/officeDocument/2006/relationships/slide" Target="slides/slide188.xml"/><Relationship Id="rId199" Type="http://schemas.openxmlformats.org/officeDocument/2006/relationships/slide" Target="slides/slide189.xml"/><Relationship Id="rId200" Type="http://schemas.openxmlformats.org/officeDocument/2006/relationships/slide" Target="slides/slide190.xml"/><Relationship Id="rId201" Type="http://schemas.openxmlformats.org/officeDocument/2006/relationships/slide" Target="slides/slide191.xml"/><Relationship Id="rId202" Type="http://schemas.openxmlformats.org/officeDocument/2006/relationships/slide" Target="slides/slide192.xml"/><Relationship Id="rId203" Type="http://schemas.openxmlformats.org/officeDocument/2006/relationships/slide" Target="slides/slide193.xml"/><Relationship Id="rId204" Type="http://schemas.openxmlformats.org/officeDocument/2006/relationships/slide" Target="slides/slide194.xml"/><Relationship Id="rId205" Type="http://schemas.openxmlformats.org/officeDocument/2006/relationships/slide" Target="slides/slide195.xml"/><Relationship Id="rId206" Type="http://schemas.openxmlformats.org/officeDocument/2006/relationships/slide" Target="slides/slide196.xml"/><Relationship Id="rId207" Type="http://schemas.openxmlformats.org/officeDocument/2006/relationships/slide" Target="slides/slide197.xml"/><Relationship Id="rId208" Type="http://schemas.openxmlformats.org/officeDocument/2006/relationships/slide" Target="slides/slide198.xml"/><Relationship Id="rId209" Type="http://schemas.openxmlformats.org/officeDocument/2006/relationships/slide" Target="slides/slide199.xml"/><Relationship Id="rId210" Type="http://schemas.openxmlformats.org/officeDocument/2006/relationships/slide" Target="slides/slide200.xml"/><Relationship Id="rId211" Type="http://schemas.openxmlformats.org/officeDocument/2006/relationships/slide" Target="slides/slide201.xml"/><Relationship Id="rId212" Type="http://schemas.openxmlformats.org/officeDocument/2006/relationships/slide" Target="slides/slide202.xml"/><Relationship Id="rId213" Type="http://schemas.openxmlformats.org/officeDocument/2006/relationships/slide" Target="slides/slide203.xml"/><Relationship Id="rId214" Type="http://schemas.openxmlformats.org/officeDocument/2006/relationships/slide" Target="slides/slide204.xml"/><Relationship Id="rId215" Type="http://schemas.openxmlformats.org/officeDocument/2006/relationships/slide" Target="slides/slide205.xml"/><Relationship Id="rId216" Type="http://schemas.openxmlformats.org/officeDocument/2006/relationships/slide" Target="slides/slide206.xml"/><Relationship Id="rId217" Type="http://schemas.openxmlformats.org/officeDocument/2006/relationships/slide" Target="slides/slide207.xml"/><Relationship Id="rId218" Type="http://schemas.openxmlformats.org/officeDocument/2006/relationships/slide" Target="slides/slide208.xml"/><Relationship Id="rId219" Type="http://schemas.openxmlformats.org/officeDocument/2006/relationships/slide" Target="slides/slide209.xml"/><Relationship Id="rId220" Type="http://schemas.openxmlformats.org/officeDocument/2006/relationships/slide" Target="slides/slide210.xml"/><Relationship Id="rId221" Type="http://schemas.openxmlformats.org/officeDocument/2006/relationships/slide" Target="slides/slide211.xml"/><Relationship Id="rId222" Type="http://schemas.openxmlformats.org/officeDocument/2006/relationships/slide" Target="slides/slide212.xml"/><Relationship Id="rId223" Type="http://schemas.openxmlformats.org/officeDocument/2006/relationships/slide" Target="slides/slide213.xml"/><Relationship Id="rId224" Type="http://schemas.openxmlformats.org/officeDocument/2006/relationships/slide" Target="slides/slide214.xml"/><Relationship Id="rId225" Type="http://schemas.openxmlformats.org/officeDocument/2006/relationships/slide" Target="slides/slide215.xml"/><Relationship Id="rId226" Type="http://schemas.openxmlformats.org/officeDocument/2006/relationships/slide" Target="slides/slide216.xml"/><Relationship Id="rId227" Type="http://schemas.openxmlformats.org/officeDocument/2006/relationships/slide" Target="slides/slide217.xml"/><Relationship Id="rId228" Type="http://schemas.openxmlformats.org/officeDocument/2006/relationships/slide" Target="slides/slide218.xml"/><Relationship Id="rId229" Type="http://schemas.openxmlformats.org/officeDocument/2006/relationships/slide" Target="slides/slide219.xml"/><Relationship Id="rId230" Type="http://schemas.openxmlformats.org/officeDocument/2006/relationships/slide" Target="slides/slide220.xml"/><Relationship Id="rId231" Type="http://schemas.openxmlformats.org/officeDocument/2006/relationships/slide" Target="slides/slide221.xml"/><Relationship Id="rId232" Type="http://schemas.openxmlformats.org/officeDocument/2006/relationships/slide" Target="slides/slide222.xml"/><Relationship Id="rId233" Type="http://schemas.openxmlformats.org/officeDocument/2006/relationships/slide" Target="slides/slide223.xml"/><Relationship Id="rId234" Type="http://schemas.openxmlformats.org/officeDocument/2006/relationships/slide" Target="slides/slide224.xml"/><Relationship Id="rId235" Type="http://schemas.openxmlformats.org/officeDocument/2006/relationships/slide" Target="slides/slide225.xml"/><Relationship Id="rId236" Type="http://schemas.openxmlformats.org/officeDocument/2006/relationships/slide" Target="slides/slide226.xml"/><Relationship Id="rId237" Type="http://schemas.openxmlformats.org/officeDocument/2006/relationships/slide" Target="slides/slide227.xml"/><Relationship Id="rId238" Type="http://schemas.openxmlformats.org/officeDocument/2006/relationships/slide" Target="slides/slide228.xml"/><Relationship Id="rId239" Type="http://schemas.openxmlformats.org/officeDocument/2006/relationships/slide" Target="slides/slide229.xml"/><Relationship Id="rId240" Type="http://schemas.openxmlformats.org/officeDocument/2006/relationships/slide" Target="slides/slide230.xml"/><Relationship Id="rId241" Type="http://schemas.openxmlformats.org/officeDocument/2006/relationships/slide" Target="slides/slide231.xml"/><Relationship Id="rId242" Type="http://schemas.openxmlformats.org/officeDocument/2006/relationships/slide" Target="slides/slide232.xml"/><Relationship Id="rId243" Type="http://schemas.openxmlformats.org/officeDocument/2006/relationships/slide" Target="slides/slide233.xml"/><Relationship Id="rId244" Type="http://schemas.openxmlformats.org/officeDocument/2006/relationships/slide" Target="slides/slide234.xml"/><Relationship Id="rId245" Type="http://schemas.openxmlformats.org/officeDocument/2006/relationships/slide" Target="slides/slide235.xml"/><Relationship Id="rId246" Type="http://schemas.openxmlformats.org/officeDocument/2006/relationships/slide" Target="slides/slide236.xml"/><Relationship Id="rId247" Type="http://schemas.openxmlformats.org/officeDocument/2006/relationships/slide" Target="slides/slide237.xml"/><Relationship Id="rId248" Type="http://schemas.openxmlformats.org/officeDocument/2006/relationships/slide" Target="slides/slide238.xml"/><Relationship Id="rId249" Type="http://schemas.openxmlformats.org/officeDocument/2006/relationships/slide" Target="slides/slide239.xml"/><Relationship Id="rId250" Type="http://schemas.openxmlformats.org/officeDocument/2006/relationships/slide" Target="slides/slide240.xml"/><Relationship Id="rId251" Type="http://schemas.openxmlformats.org/officeDocument/2006/relationships/slide" Target="slides/slide241.xml"/><Relationship Id="rId252" Type="http://schemas.openxmlformats.org/officeDocument/2006/relationships/slide" Target="slides/slide242.xml"/><Relationship Id="rId253" Type="http://schemas.openxmlformats.org/officeDocument/2006/relationships/slide" Target="slides/slide243.xml"/><Relationship Id="rId254" Type="http://schemas.openxmlformats.org/officeDocument/2006/relationships/slide" Target="slides/slide244.xml"/><Relationship Id="rId255" Type="http://schemas.openxmlformats.org/officeDocument/2006/relationships/slide" Target="slides/slide245.xml"/><Relationship Id="rId256" Type="http://schemas.openxmlformats.org/officeDocument/2006/relationships/slide" Target="slides/slide246.xml"/><Relationship Id="rId257" Type="http://schemas.openxmlformats.org/officeDocument/2006/relationships/slide" Target="slides/slide247.xml"/><Relationship Id="rId258" Type="http://schemas.openxmlformats.org/officeDocument/2006/relationships/slide" Target="slides/slide248.xml"/><Relationship Id="rId259" Type="http://schemas.openxmlformats.org/officeDocument/2006/relationships/slide" Target="slides/slide249.xml"/><Relationship Id="rId260" Type="http://schemas.openxmlformats.org/officeDocument/2006/relationships/slide" Target="slides/slide250.xml"/><Relationship Id="rId261" Type="http://schemas.openxmlformats.org/officeDocument/2006/relationships/slide" Target="slides/slide251.xml"/><Relationship Id="rId262" Type="http://schemas.openxmlformats.org/officeDocument/2006/relationships/slide" Target="slides/slide252.xml"/><Relationship Id="rId263" Type="http://schemas.openxmlformats.org/officeDocument/2006/relationships/slide" Target="slides/slide253.xml"/><Relationship Id="rId264" Type="http://schemas.openxmlformats.org/officeDocument/2006/relationships/slide" Target="slides/slide254.xml"/><Relationship Id="rId265" Type="http://schemas.openxmlformats.org/officeDocument/2006/relationships/slide" Target="slides/slide255.xml"/><Relationship Id="rId266" Type="http://schemas.openxmlformats.org/officeDocument/2006/relationships/slide" Target="slides/slide256.xml"/><Relationship Id="rId267" Type="http://schemas.openxmlformats.org/officeDocument/2006/relationships/slide" Target="slides/slide257.xml"/><Relationship Id="rId268" Type="http://schemas.openxmlformats.org/officeDocument/2006/relationships/slide" Target="slides/slide258.xml"/><Relationship Id="rId269" Type="http://schemas.openxmlformats.org/officeDocument/2006/relationships/slide" Target="slides/slide259.xml"/><Relationship Id="rId270" Type="http://schemas.openxmlformats.org/officeDocument/2006/relationships/slide" Target="slides/slide260.xml"/><Relationship Id="rId271" Type="http://schemas.openxmlformats.org/officeDocument/2006/relationships/slide" Target="slides/slide261.xml"/><Relationship Id="rId272" Type="http://schemas.openxmlformats.org/officeDocument/2006/relationships/slide" Target="slides/slide262.xml"/><Relationship Id="rId273" Type="http://schemas.openxmlformats.org/officeDocument/2006/relationships/slide" Target="slides/slide263.xml"/><Relationship Id="rId274" Type="http://schemas.openxmlformats.org/officeDocument/2006/relationships/slide" Target="slides/slide264.xml"/><Relationship Id="rId275" Type="http://schemas.openxmlformats.org/officeDocument/2006/relationships/slide" Target="slides/slide265.xml"/><Relationship Id="rId276" Type="http://schemas.openxmlformats.org/officeDocument/2006/relationships/slide" Target="slides/slide266.xml"/><Relationship Id="rId277" Type="http://schemas.openxmlformats.org/officeDocument/2006/relationships/slide" Target="slides/slide267.xml"/><Relationship Id="rId278" Type="http://schemas.openxmlformats.org/officeDocument/2006/relationships/slide" Target="slides/slide268.xml"/><Relationship Id="rId279" Type="http://schemas.openxmlformats.org/officeDocument/2006/relationships/slide" Target="slides/slide269.xml"/><Relationship Id="rId280" Type="http://schemas.openxmlformats.org/officeDocument/2006/relationships/slide" Target="slides/slide270.xml"/><Relationship Id="rId281" Type="http://schemas.openxmlformats.org/officeDocument/2006/relationships/slide" Target="slides/slide271.xml"/><Relationship Id="rId282" Type="http://schemas.openxmlformats.org/officeDocument/2006/relationships/slide" Target="slides/slide272.xml"/><Relationship Id="rId283" Type="http://schemas.openxmlformats.org/officeDocument/2006/relationships/slide" Target="slides/slide273.xml"/><Relationship Id="rId284" Type="http://schemas.openxmlformats.org/officeDocument/2006/relationships/slide" Target="slides/slide274.xml"/><Relationship Id="rId285" Type="http://schemas.openxmlformats.org/officeDocument/2006/relationships/slide" Target="slides/slide275.xml"/><Relationship Id="rId286" Type="http://schemas.openxmlformats.org/officeDocument/2006/relationships/slide" Target="slides/slide276.xml"/><Relationship Id="rId287" Type="http://schemas.openxmlformats.org/officeDocument/2006/relationships/slide" Target="slides/slide277.xml"/><Relationship Id="rId288" Type="http://schemas.openxmlformats.org/officeDocument/2006/relationships/slide" Target="slides/slide278.xml"/><Relationship Id="rId289" Type="http://schemas.openxmlformats.org/officeDocument/2006/relationships/slide" Target="slides/slide279.xml"/><Relationship Id="rId290" Type="http://schemas.openxmlformats.org/officeDocument/2006/relationships/slide" Target="slides/slide280.xml"/><Relationship Id="rId291" Type="http://schemas.openxmlformats.org/officeDocument/2006/relationships/slide" Target="slides/slide281.xml"/><Relationship Id="rId292" Type="http://schemas.openxmlformats.org/officeDocument/2006/relationships/slide" Target="slides/slide282.xml"/><Relationship Id="rId293" Type="http://schemas.openxmlformats.org/officeDocument/2006/relationships/slide" Target="slides/slide283.xml"/><Relationship Id="rId294" Type="http://schemas.openxmlformats.org/officeDocument/2006/relationships/slide" Target="slides/slide284.xml"/><Relationship Id="rId295" Type="http://schemas.openxmlformats.org/officeDocument/2006/relationships/slide" Target="slides/slide285.xml"/><Relationship Id="rId296" Type="http://schemas.openxmlformats.org/officeDocument/2006/relationships/slide" Target="slides/slide286.xml"/><Relationship Id="rId297" Type="http://schemas.openxmlformats.org/officeDocument/2006/relationships/slide" Target="slides/slide287.xml"/><Relationship Id="rId298" Type="http://schemas.openxmlformats.org/officeDocument/2006/relationships/slide" Target="slides/slide288.xml"/><Relationship Id="rId299" Type="http://schemas.openxmlformats.org/officeDocument/2006/relationships/slide" Target="slides/slide289.xml"/><Relationship Id="rId300" Type="http://schemas.openxmlformats.org/officeDocument/2006/relationships/slide" Target="slides/slide290.xml"/><Relationship Id="rId301" Type="http://schemas.openxmlformats.org/officeDocument/2006/relationships/slide" Target="slides/slide291.xml"/><Relationship Id="rId302" Type="http://schemas.openxmlformats.org/officeDocument/2006/relationships/slide" Target="slides/slide292.xml"/><Relationship Id="rId303" Type="http://schemas.openxmlformats.org/officeDocument/2006/relationships/slide" Target="slides/slide293.xml"/><Relationship Id="rId304" Type="http://schemas.openxmlformats.org/officeDocument/2006/relationships/slide" Target="slides/slide294.xml"/><Relationship Id="rId305" Type="http://schemas.openxmlformats.org/officeDocument/2006/relationships/slide" Target="slides/slide295.xml"/><Relationship Id="rId306" Type="http://schemas.openxmlformats.org/officeDocument/2006/relationships/slide" Target="slides/slide296.xml"/><Relationship Id="rId307" Type="http://schemas.openxmlformats.org/officeDocument/2006/relationships/slide" Target="slides/slide297.xml"/><Relationship Id="rId308" Type="http://schemas.openxmlformats.org/officeDocument/2006/relationships/slide" Target="slides/slide298.xml"/><Relationship Id="rId309" Type="http://schemas.openxmlformats.org/officeDocument/2006/relationships/slide" Target="slides/slide299.xml"/><Relationship Id="rId310" Type="http://schemas.openxmlformats.org/officeDocument/2006/relationships/slide" Target="slides/slide300.xml"/><Relationship Id="rId311" Type="http://schemas.openxmlformats.org/officeDocument/2006/relationships/slide" Target="slides/slide301.xml"/><Relationship Id="rId312" Type="http://schemas.openxmlformats.org/officeDocument/2006/relationships/slide" Target="slides/slide302.xml"/><Relationship Id="rId313" Type="http://schemas.openxmlformats.org/officeDocument/2006/relationships/slide" Target="slides/slide303.xml"/><Relationship Id="rId314" Type="http://schemas.openxmlformats.org/officeDocument/2006/relationships/slide" Target="slides/slide304.xml"/><Relationship Id="rId315" Type="http://schemas.openxmlformats.org/officeDocument/2006/relationships/slide" Target="slides/slide305.xml"/><Relationship Id="rId316" Type="http://schemas.openxmlformats.org/officeDocument/2006/relationships/slide" Target="slides/slide306.xml"/><Relationship Id="rId317" Type="http://schemas.openxmlformats.org/officeDocument/2006/relationships/slide" Target="slides/slide307.xml"/><Relationship Id="rId318" Type="http://schemas.openxmlformats.org/officeDocument/2006/relationships/slide" Target="slides/slide308.xml"/><Relationship Id="rId319" Type="http://schemas.openxmlformats.org/officeDocument/2006/relationships/slide" Target="slides/slide309.xml"/><Relationship Id="rId320" Type="http://schemas.openxmlformats.org/officeDocument/2006/relationships/slide" Target="slides/slide310.xml"/><Relationship Id="rId321" Type="http://schemas.openxmlformats.org/officeDocument/2006/relationships/slide" Target="slides/slide311.xml"/><Relationship Id="rId322" Type="http://schemas.openxmlformats.org/officeDocument/2006/relationships/slide" Target="slides/slide312.xml"/><Relationship Id="rId323" Type="http://schemas.openxmlformats.org/officeDocument/2006/relationships/slide" Target="slides/slide313.xml"/><Relationship Id="rId324" Type="http://schemas.openxmlformats.org/officeDocument/2006/relationships/slide" Target="slides/slide314.xml"/><Relationship Id="rId325" Type="http://schemas.openxmlformats.org/officeDocument/2006/relationships/slide" Target="slides/slide315.xml"/><Relationship Id="rId326" Type="http://schemas.openxmlformats.org/officeDocument/2006/relationships/slide" Target="slides/slide3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4" showMasterSp="0">
  <p:cSld name="Portada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/>
        </p:nvSpPr>
        <p:spPr>
          <a:xfrm>
            <a:off x="4298700" y="0"/>
            <a:ext cx="4845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" name="Google Shape;15;p23"/>
          <p:cNvSpPr txBox="1"/>
          <p:nvPr>
            <p:ph type="title"/>
          </p:nvPr>
        </p:nvSpPr>
        <p:spPr>
          <a:xfrm>
            <a:off x="4886999" y="1327325"/>
            <a:ext cx="37353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099963">
            <a:off x="2770195" y="1826996"/>
            <a:ext cx="1687459" cy="168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 title="logos-fundae-fondo-nav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1013" y="4253200"/>
            <a:ext cx="4607273" cy="6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0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1" showMasterSp="0">
  <p:cSld name="Separador">
    <p:bg>
      <p:bgPr>
        <a:solidFill>
          <a:srgbClr val="1C1E3B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518400" y="1207890"/>
            <a:ext cx="39672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xend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518400" y="1775916"/>
            <a:ext cx="39762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exend Light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Lexend Light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Lexend Light"/>
              <a:buChar char="•"/>
              <a:defRPr>
                <a:solidFill>
                  <a:schemeClr val="lt1"/>
                </a:solidFill>
              </a:defRPr>
            </a:lvl5pPr>
            <a:lvl6pPr indent="-2413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413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413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413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4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a">
  <p:cSld name="1 columna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25"/>
          <p:cNvSpPr txBox="1"/>
          <p:nvPr>
            <p:ph type="title"/>
          </p:nvPr>
        </p:nvSpPr>
        <p:spPr>
          <a:xfrm>
            <a:off x="628775" y="347125"/>
            <a:ext cx="7993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8" name="Google Shape;28;p25"/>
          <p:cNvSpPr txBox="1"/>
          <p:nvPr>
            <p:ph idx="2"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9" name="Google Shape;29;p25"/>
          <p:cNvSpPr txBox="1"/>
          <p:nvPr>
            <p:ph idx="3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518517" y="1207889"/>
            <a:ext cx="81069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31" name="Google Shape;31;p25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mpleta" showMasterSp="0">
  <p:cSld name="Imagen gran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518400" y="344091"/>
            <a:ext cx="8107200" cy="4495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988" y="4839891"/>
            <a:ext cx="604520" cy="185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6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646963"/>
            <a:ext cx="2587873" cy="3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nominal" showMasterSp="0">
  <p:cSld name="Portada_1_1_2">
    <p:bg>
      <p:bgPr>
        <a:solidFill>
          <a:srgbClr val="1C1E3B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/>
        </p:nvSpPr>
        <p:spPr>
          <a:xfrm>
            <a:off x="6475050" y="4524700"/>
            <a:ext cx="174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C/ Manuel Tovar, 31 28034-Madrid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27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7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- Gracias" showMasterSp="0">
  <p:cSld name="Portada_1_1">
    <p:bg>
      <p:bgPr>
        <a:solidFill>
          <a:srgbClr val="1C1E3B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/>
        </p:nvSpPr>
        <p:spPr>
          <a:xfrm>
            <a:off x="6475050" y="4484975"/>
            <a:ext cx="174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C/ Manuel Tovar, 31 28034-Madrid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/>
          <p:nvPr>
            <p:ph type="title"/>
          </p:nvPr>
        </p:nvSpPr>
        <p:spPr>
          <a:xfrm>
            <a:off x="1842216" y="1714453"/>
            <a:ext cx="43812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44" name="Google Shape;44;p28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8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">
  <p:cSld name="2 columna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29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50" name="Google Shape;50;p29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521494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4639270" y="1207889"/>
            <a:ext cx="3986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4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54" name="Google Shape;54;p29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 showMasterSp="0">
  <p:cSld name="Portada_1_2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521500" y="1207899"/>
            <a:ext cx="40536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descr="Interfaz de usuario gráfica, Texto&#10;&#10;Descripción generada automáticamente" id="57" name="Google Shape;5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406" y="4172113"/>
            <a:ext cx="1890783" cy="6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lassian Cloud | TSOFT - Make IT Real" id="58" name="Google Shape;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09" y="4240108"/>
            <a:ext cx="771498" cy="492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lassian Platinum Partner Singapore Malaysia Thailand Indonesia" id="59" name="Google Shape;5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603" y="4240108"/>
            <a:ext cx="769488" cy="49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0"/>
          <p:cNvPicPr preferRelativeResize="0"/>
          <p:nvPr/>
        </p:nvPicPr>
        <p:blipFill rotWithShape="1">
          <a:blip r:embed="rId5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0" title="logos-fundae-fondo-navy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4548" y="4373963"/>
            <a:ext cx="2990802" cy="4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65" name="Google Shape;65;p31"/>
          <p:cNvGrpSpPr/>
          <p:nvPr/>
        </p:nvGrpSpPr>
        <p:grpSpPr>
          <a:xfrm>
            <a:off x="-810550" y="-196"/>
            <a:ext cx="10765100" cy="5143292"/>
            <a:chOff x="-789350" y="-94175"/>
            <a:chExt cx="10765100" cy="5377200"/>
          </a:xfrm>
        </p:grpSpPr>
        <p:sp>
          <p:nvSpPr>
            <p:cNvPr id="66" name="Google Shape;66;p31"/>
            <p:cNvSpPr/>
            <p:nvPr/>
          </p:nvSpPr>
          <p:spPr>
            <a:xfrm>
              <a:off x="6865050" y="-94175"/>
              <a:ext cx="3110700" cy="5377200"/>
            </a:xfrm>
            <a:prstGeom prst="parallelogram">
              <a:avLst>
                <a:gd fmla="val 25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-789350" y="-94175"/>
              <a:ext cx="3110700" cy="5377200"/>
            </a:xfrm>
            <a:prstGeom prst="parallelogram">
              <a:avLst>
                <a:gd fmla="val 25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8" name="Google Shape;6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91501" y="556648"/>
            <a:ext cx="807775" cy="8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444726" y="3776848"/>
            <a:ext cx="807775" cy="8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1"/>
          <p:cNvSpPr txBox="1"/>
          <p:nvPr>
            <p:ph idx="1" type="subTitle"/>
          </p:nvPr>
        </p:nvSpPr>
        <p:spPr>
          <a:xfrm>
            <a:off x="2610900" y="1952850"/>
            <a:ext cx="39222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pic>
        <p:nvPicPr>
          <p:cNvPr id="71" name="Google Shape;71;p31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775" y="4660016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3" showMasterSp="0">
  <p:cSld name="Portada">
    <p:bg>
      <p:bgPr>
        <a:solidFill>
          <a:srgbClr val="1C1E3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68841" y="1327315"/>
            <a:ext cx="40536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74" name="Google Shape;74;p32"/>
          <p:cNvSpPr/>
          <p:nvPr>
            <p:ph idx="2" type="pic"/>
          </p:nvPr>
        </p:nvSpPr>
        <p:spPr>
          <a:xfrm>
            <a:off x="0" y="0"/>
            <a:ext cx="42864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5" name="Google Shape;75;p32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2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5300" y="4345649"/>
            <a:ext cx="3364326" cy="5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0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 - Imagen dcha">
  <p:cSld name="2 columnas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33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1" name="Google Shape;81;p33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2" name="Google Shape;82;p33"/>
          <p:cNvSpPr txBox="1"/>
          <p:nvPr>
            <p:ph idx="1" type="body"/>
          </p:nvPr>
        </p:nvSpPr>
        <p:spPr>
          <a:xfrm>
            <a:off x="521494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3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4" name="Google Shape;84;p33"/>
          <p:cNvSpPr/>
          <p:nvPr>
            <p:ph idx="4" type="pic"/>
          </p:nvPr>
        </p:nvSpPr>
        <p:spPr>
          <a:xfrm>
            <a:off x="4639275" y="1212506"/>
            <a:ext cx="4001100" cy="3389100"/>
          </a:xfrm>
          <a:prstGeom prst="rect">
            <a:avLst/>
          </a:prstGeom>
          <a:noFill/>
          <a:ln>
            <a:noFill/>
          </a:ln>
        </p:spPr>
      </p:sp>
      <p:pic>
        <p:nvPicPr>
          <p:cNvPr id="85" name="Google Shape;85;p33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 - Imagen Izda">
  <p:cSld name="2 columnas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34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9" name="Google Shape;89;p34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0" name="Google Shape;90;p34"/>
          <p:cNvSpPr txBox="1"/>
          <p:nvPr>
            <p:ph idx="1" type="body"/>
          </p:nvPr>
        </p:nvSpPr>
        <p:spPr>
          <a:xfrm>
            <a:off x="4639275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3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2" name="Google Shape;92;p34"/>
          <p:cNvSpPr/>
          <p:nvPr>
            <p:ph idx="4" type="pic"/>
          </p:nvPr>
        </p:nvSpPr>
        <p:spPr>
          <a:xfrm>
            <a:off x="518400" y="1207894"/>
            <a:ext cx="4001100" cy="3389100"/>
          </a:xfrm>
          <a:prstGeom prst="rect">
            <a:avLst/>
          </a:prstGeom>
          <a:noFill/>
          <a:ln>
            <a:noFill/>
          </a:ln>
        </p:spPr>
      </p:sp>
      <p:pic>
        <p:nvPicPr>
          <p:cNvPr id="93" name="Google Shape;93;p34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columnas">
  <p:cSld name="2x2 columna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35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7" name="Google Shape;97;p35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8" name="Google Shape;98;p35"/>
          <p:cNvSpPr txBox="1"/>
          <p:nvPr>
            <p:ph idx="1" type="body"/>
          </p:nvPr>
        </p:nvSpPr>
        <p:spPr>
          <a:xfrm>
            <a:off x="521494" y="1207889"/>
            <a:ext cx="39834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3" type="body"/>
          </p:nvPr>
        </p:nvSpPr>
        <p:spPr>
          <a:xfrm>
            <a:off x="4639270" y="1207889"/>
            <a:ext cx="39864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4" type="body"/>
          </p:nvPr>
        </p:nvSpPr>
        <p:spPr>
          <a:xfrm>
            <a:off x="518400" y="2976563"/>
            <a:ext cx="39834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5" type="body"/>
          </p:nvPr>
        </p:nvSpPr>
        <p:spPr>
          <a:xfrm>
            <a:off x="4636176" y="2976563"/>
            <a:ext cx="39864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03" name="Google Shape;103;p35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22">
          <p15:clr>
            <a:srgbClr val="FBAE40"/>
          </p15:clr>
        </p15:guide>
        <p15:guide id="2" pos="2838">
          <p15:clr>
            <a:srgbClr val="FBAE40"/>
          </p15:clr>
        </p15:guide>
        <p15:guide id="3" orient="horz" pos="1790">
          <p15:clr>
            <a:srgbClr val="FBAE40"/>
          </p15:clr>
        </p15:guide>
        <p15:guide id="4" orient="horz" pos="187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columnas con imagen">
  <p:cSld name="2x2 columnas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36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07" name="Google Shape;107;p36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08" name="Google Shape;108;p36"/>
          <p:cNvSpPr txBox="1"/>
          <p:nvPr>
            <p:ph idx="1" type="body"/>
          </p:nvPr>
        </p:nvSpPr>
        <p:spPr>
          <a:xfrm>
            <a:off x="518400" y="2976563"/>
            <a:ext cx="39834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3" type="body"/>
          </p:nvPr>
        </p:nvSpPr>
        <p:spPr>
          <a:xfrm>
            <a:off x="4636176" y="2976563"/>
            <a:ext cx="39864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4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1" name="Google Shape;111;p36"/>
          <p:cNvSpPr/>
          <p:nvPr>
            <p:ph idx="5" type="pic"/>
          </p:nvPr>
        </p:nvSpPr>
        <p:spPr>
          <a:xfrm>
            <a:off x="525159" y="1215056"/>
            <a:ext cx="3976500" cy="16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36"/>
          <p:cNvSpPr/>
          <p:nvPr>
            <p:ph idx="6" type="pic"/>
          </p:nvPr>
        </p:nvSpPr>
        <p:spPr>
          <a:xfrm>
            <a:off x="4641066" y="1215056"/>
            <a:ext cx="3976500" cy="16203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3" name="Google Shape;113;p36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22">
          <p15:clr>
            <a:srgbClr val="FBAE40"/>
          </p15:clr>
        </p15:guide>
        <p15:guide id="2" pos="2838">
          <p15:clr>
            <a:srgbClr val="FBAE40"/>
          </p15:clr>
        </p15:guide>
        <p15:guide id="3" orient="horz" pos="1790">
          <p15:clr>
            <a:srgbClr val="FBAE40"/>
          </p15:clr>
        </p15:guide>
        <p15:guide id="4" orient="horz" pos="187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">
  <p:cSld name="3 columna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7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37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7" name="Google Shape;117;p37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8" name="Google Shape;118;p37"/>
          <p:cNvSpPr txBox="1"/>
          <p:nvPr>
            <p:ph idx="1" type="body"/>
          </p:nvPr>
        </p:nvSpPr>
        <p:spPr>
          <a:xfrm>
            <a:off x="518400" y="1207894"/>
            <a:ext cx="2568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3" type="body"/>
          </p:nvPr>
        </p:nvSpPr>
        <p:spPr>
          <a:xfrm>
            <a:off x="6060394" y="1207828"/>
            <a:ext cx="2565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4" type="body"/>
          </p:nvPr>
        </p:nvSpPr>
        <p:spPr>
          <a:xfrm>
            <a:off x="3290906" y="1207828"/>
            <a:ext cx="2565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5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22" name="Google Shape;122;p37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16">
          <p15:clr>
            <a:srgbClr val="FBAE40"/>
          </p15:clr>
        </p15:guide>
        <p15:guide id="2" pos="1944">
          <p15:clr>
            <a:srgbClr val="FBAE40"/>
          </p15:clr>
        </p15:guide>
        <p15:guide id="3" pos="2067">
          <p15:clr>
            <a:srgbClr val="FBAE40"/>
          </p15:clr>
        </p15:guide>
        <p15:guide id="4" pos="36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 con imagen">
  <p:cSld name="3 columna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38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26" name="Google Shape;126;p38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18400" y="2981072"/>
            <a:ext cx="2568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3" type="body"/>
          </p:nvPr>
        </p:nvSpPr>
        <p:spPr>
          <a:xfrm>
            <a:off x="6060394" y="2981053"/>
            <a:ext cx="2565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4" type="body"/>
          </p:nvPr>
        </p:nvSpPr>
        <p:spPr>
          <a:xfrm>
            <a:off x="3290906" y="2981053"/>
            <a:ext cx="2565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30" name="Google Shape;130;p38"/>
          <p:cNvSpPr txBox="1"/>
          <p:nvPr>
            <p:ph idx="5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1" name="Google Shape;131;p38"/>
          <p:cNvSpPr/>
          <p:nvPr>
            <p:ph idx="6" type="pic"/>
          </p:nvPr>
        </p:nvSpPr>
        <p:spPr>
          <a:xfrm>
            <a:off x="525159" y="1204781"/>
            <a:ext cx="2568300" cy="158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8"/>
          <p:cNvSpPr/>
          <p:nvPr>
            <p:ph idx="7" type="pic"/>
          </p:nvPr>
        </p:nvSpPr>
        <p:spPr>
          <a:xfrm>
            <a:off x="3287869" y="1210655"/>
            <a:ext cx="2568300" cy="158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8"/>
          <p:cNvSpPr/>
          <p:nvPr>
            <p:ph idx="8" type="pic"/>
          </p:nvPr>
        </p:nvSpPr>
        <p:spPr>
          <a:xfrm>
            <a:off x="6058875" y="1210650"/>
            <a:ext cx="2568300" cy="15873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4" name="Google Shape;134;p38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16">
          <p15:clr>
            <a:srgbClr val="FBAE40"/>
          </p15:clr>
        </p15:guide>
        <p15:guide id="2" pos="1944">
          <p15:clr>
            <a:srgbClr val="FBAE40"/>
          </p15:clr>
        </p15:guide>
        <p15:guide id="3" pos="2067">
          <p15:clr>
            <a:srgbClr val="FBAE40"/>
          </p15:clr>
        </p15:guide>
        <p15:guide id="4" pos="36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as">
  <p:cSld name="4 columna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9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39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8" name="Google Shape;138;p39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521494" y="1207889"/>
            <a:ext cx="1917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3" type="body"/>
          </p:nvPr>
        </p:nvSpPr>
        <p:spPr>
          <a:xfrm>
            <a:off x="2573536" y="1207889"/>
            <a:ext cx="19311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4" type="body"/>
          </p:nvPr>
        </p:nvSpPr>
        <p:spPr>
          <a:xfrm>
            <a:off x="4626173" y="1207889"/>
            <a:ext cx="1944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5" type="body"/>
          </p:nvPr>
        </p:nvSpPr>
        <p:spPr>
          <a:xfrm>
            <a:off x="6708098" y="1207889"/>
            <a:ext cx="1917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44" name="Google Shape;144;p39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14">
          <p15:clr>
            <a:srgbClr val="FBAE40"/>
          </p15:clr>
        </p15:guide>
        <p15:guide id="2" pos="2838">
          <p15:clr>
            <a:srgbClr val="FBAE40"/>
          </p15:clr>
        </p15:guide>
        <p15:guide id="3" pos="4224">
          <p15:clr>
            <a:srgbClr val="FBAE40"/>
          </p15:clr>
        </p15:guide>
        <p15:guide id="4" pos="1536">
          <p15:clr>
            <a:srgbClr val="FBAE40"/>
          </p15:clr>
        </p15:guide>
        <p15:guide id="5" pos="1621">
          <p15:clr>
            <a:srgbClr val="FBAE40"/>
          </p15:clr>
        </p15:guide>
        <p15:guide id="6" pos="41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as con imagen">
  <p:cSld name="4 columnas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40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48" name="Google Shape;148;p40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49" name="Google Shape;149;p40"/>
          <p:cNvSpPr txBox="1"/>
          <p:nvPr>
            <p:ph idx="1" type="body"/>
          </p:nvPr>
        </p:nvSpPr>
        <p:spPr>
          <a:xfrm>
            <a:off x="521494" y="3035128"/>
            <a:ext cx="19176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3" type="body"/>
          </p:nvPr>
        </p:nvSpPr>
        <p:spPr>
          <a:xfrm>
            <a:off x="2573541" y="3035118"/>
            <a:ext cx="19311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4" type="body"/>
          </p:nvPr>
        </p:nvSpPr>
        <p:spPr>
          <a:xfrm>
            <a:off x="4626169" y="3035119"/>
            <a:ext cx="19443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5" type="body"/>
          </p:nvPr>
        </p:nvSpPr>
        <p:spPr>
          <a:xfrm>
            <a:off x="6708094" y="3035110"/>
            <a:ext cx="19176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54" name="Google Shape;154;p40"/>
          <p:cNvSpPr/>
          <p:nvPr>
            <p:ph idx="7" type="pic"/>
          </p:nvPr>
        </p:nvSpPr>
        <p:spPr>
          <a:xfrm>
            <a:off x="532884" y="1220231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40"/>
          <p:cNvSpPr/>
          <p:nvPr>
            <p:ph idx="8" type="pic"/>
          </p:nvPr>
        </p:nvSpPr>
        <p:spPr>
          <a:xfrm>
            <a:off x="2591428" y="1225238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40"/>
          <p:cNvSpPr/>
          <p:nvPr>
            <p:ph idx="9" type="pic"/>
          </p:nvPr>
        </p:nvSpPr>
        <p:spPr>
          <a:xfrm>
            <a:off x="4649972" y="1225238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40"/>
          <p:cNvSpPr/>
          <p:nvPr>
            <p:ph idx="13" type="pic"/>
          </p:nvPr>
        </p:nvSpPr>
        <p:spPr>
          <a:xfrm>
            <a:off x="6719119" y="1220231"/>
            <a:ext cx="1895400" cy="1561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8" name="Google Shape;158;p40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14">
          <p15:clr>
            <a:srgbClr val="FBAE40"/>
          </p15:clr>
        </p15:guide>
        <p15:guide id="2" pos="2838">
          <p15:clr>
            <a:srgbClr val="FBAE40"/>
          </p15:clr>
        </p15:guide>
        <p15:guide id="3" pos="4224">
          <p15:clr>
            <a:srgbClr val="FBAE40"/>
          </p15:clr>
        </p15:guide>
        <p15:guide id="4" pos="1536">
          <p15:clr>
            <a:srgbClr val="FBAE40"/>
          </p15:clr>
        </p15:guide>
        <p15:guide id="5" pos="1621">
          <p15:clr>
            <a:srgbClr val="FBAE40"/>
          </p15:clr>
        </p15:guide>
        <p15:guide id="6" pos="4139">
          <p15:clr>
            <a:srgbClr val="FBAE40"/>
          </p15:clr>
        </p15:guide>
        <p15:guide id="7" orient="horz" pos="182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" showMasterSp="0">
  <p:cSld name="Sólo título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ie.png" id="160" name="Google Shape;16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225725">
            <a:off x="108825" y="319487"/>
            <a:ext cx="328510" cy="32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1"/>
          <p:cNvSpPr txBox="1"/>
          <p:nvPr>
            <p:ph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62" name="Google Shape;162;p41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1664963" y="344091"/>
            <a:ext cx="6957600" cy="42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165" name="Google Shape;1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100000">
            <a:off x="472277" y="2091661"/>
            <a:ext cx="807775" cy="8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2"/>
          <p:cNvSpPr/>
          <p:nvPr/>
        </p:nvSpPr>
        <p:spPr>
          <a:xfrm>
            <a:off x="128588" y="214313"/>
            <a:ext cx="821700" cy="55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42"/>
          <p:cNvSpPr txBox="1"/>
          <p:nvPr>
            <p:ph idx="12" type="sldNum"/>
          </p:nvPr>
        </p:nvSpPr>
        <p:spPr>
          <a:xfrm>
            <a:off x="8730304" y="4848301"/>
            <a:ext cx="27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8" name="Google Shape;168;p42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 showMasterSp="0">
  <p:cSld name="Vacía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idx="1" type="body"/>
          </p:nvPr>
        </p:nvSpPr>
        <p:spPr>
          <a:xfrm>
            <a:off x="521494" y="1207889"/>
            <a:ext cx="81009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5C2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descr="techie.png" id="7" name="Google Shape;7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8225725">
            <a:off x="108825" y="319487"/>
            <a:ext cx="328510" cy="32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9530" y="4856439"/>
            <a:ext cx="608604" cy="18673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2"/>
          <p:cNvSpPr txBox="1"/>
          <p:nvPr/>
        </p:nvSpPr>
        <p:spPr>
          <a:xfrm>
            <a:off x="3627739" y="4839891"/>
            <a:ext cx="189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" name="Google Shape;10;p22"/>
          <p:cNvSpPr txBox="1"/>
          <p:nvPr/>
        </p:nvSpPr>
        <p:spPr>
          <a:xfrm>
            <a:off x="3627253" y="4846203"/>
            <a:ext cx="189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8730304" y="4848301"/>
            <a:ext cx="27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" name="Google Shape;12;p22"/>
          <p:cNvSpPr txBox="1"/>
          <p:nvPr>
            <p:ph type="title"/>
          </p:nvPr>
        </p:nvSpPr>
        <p:spPr>
          <a:xfrm>
            <a:off x="629400" y="347125"/>
            <a:ext cx="7992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1" i="0" sz="23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F26B43"/>
          </p15:clr>
        </p15:guide>
        <p15:guide id="2" pos="329">
          <p15:clr>
            <a:srgbClr val="F26B43"/>
          </p15:clr>
        </p15:guide>
        <p15:guide id="3" pos="5431">
          <p15:clr>
            <a:srgbClr val="F26B43"/>
          </p15:clr>
        </p15:guide>
        <p15:guide id="4" orient="horz" pos="761">
          <p15:clr>
            <a:srgbClr val="F26B43"/>
          </p15:clr>
        </p15:guide>
        <p15:guide id="5" orient="horz" pos="3134">
          <p15:clr>
            <a:srgbClr val="F26B43"/>
          </p15:clr>
        </p15:guide>
        <p15:guide id="6" orient="horz" pos="2896">
          <p15:clr>
            <a:srgbClr val="F26B43"/>
          </p15:clr>
        </p15:guide>
        <p15:guide id="7" orient="horz" pos="651">
          <p15:clr>
            <a:srgbClr val="F26B43"/>
          </p15:clr>
        </p15:guide>
        <p15:guide id="8" orient="horz" pos="304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98050" y="1049350"/>
            <a:ext cx="3457800" cy="25035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/>
            <a:r>
              <a:rPr sz="2000" b="1"/>
              <a:t>Business Intelligence: del dato a la decisión</a:t>
            </a:r>
          </a:p>
          <a:p>
            <a:pPr/>
            <a:r>
              <a:rPr sz="1200"/>
              <a:t>ADGG102PO · Acción/Grupo 10/3 · 30 horas</a:t>
            </a:r>
          </a:p>
          <a:p>
            <a:pPr/>
            <a:r>
              <a:rPr sz="800"/>
              <a:t/>
            </a:r>
          </a:p>
          <a:p>
            <a:pPr/>
            <a:r>
              <a:rPr sz="900"/>
              <a:t>Presentación del curso · el detalle está en el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Business Intelligence</a:t>
            </a:r>
          </a:p>
          <a:p>
            <a:pPr/>
            <a:r>
              <a:rPr sz="3000"/>
              <a:t>no consiste en hacer gráficos.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idea que sostiene todo el curso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Presentación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Consiste en transformar datos en EVIDENCIA para tomar decisiones.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Un gráfico bonito construido sobre un indicador mal definido no es inteligencia de negocio: es una forma más rápida de equivocarse.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 de todo el curso sólo se retiene una idea, que sea ésta:</a:t>
            </a:r>
          </a:p>
          <a:p>
            <a:pPr/>
            <a:r>
              <a:rPr sz="1300" b="1"/>
              <a:t>TENER DATOS no es lo mismo que ENTENDER LOS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Presentación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Esta presentación</a:t>
            </a:r>
          </a:p>
          <a:p>
            <a:pPr lvl="1"/>
            <a:r>
              <a:rPr sz="1100"/>
              <a:t>Es el hilo de las sesiones.</a:t>
            </a:r>
          </a:p>
          <a:p>
            <a:pPr lvl="1"/>
            <a:r>
              <a:rPr sz="1100"/>
              <a:t>Los conceptos y los ejemplos, en el orden en que se explican.</a:t>
            </a:r>
          </a:p>
          <a:p>
            <a:pPr lvl="1"/>
            <a:r>
              <a:rPr sz="1100"/>
              <a:t>Cada diapositiva indica en el pie el capítulo del manual donde está desarrollado.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El manual del curso</a:t>
            </a:r>
          </a:p>
          <a:p>
            <a:pPr lvl="1"/>
            <a:r>
              <a:rPr sz="1100"/>
              <a:t>Trece capítulos de fundamentos y el caso completo, paso a paso.</a:t>
            </a:r>
          </a:p>
          <a:p>
            <a:pPr lvl="1"/>
            <a:r>
              <a:rPr sz="1100"/>
              <a:t>El razonamiento detrás de cada decisión.</a:t>
            </a:r>
          </a:p>
          <a:p>
            <a:pPr lvl="1"/>
            <a:r>
              <a:rPr sz="1100"/>
              <a:t>Glosario, referencia rápida de indicadores y 76 ejercicios con solución.</a:t>
            </a:r>
          </a:p>
          <a:p>
            <a:pPr lvl="1"/>
            <a:r>
              <a:rPr sz="1100"/>
              <a:t>Es el documento al que volver meses después.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Cómo usar este material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ocho sesiones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Sesión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Idea fuerza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Tener datos no es entenderlos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Qué es BI y para qué sirve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Entender antes de visualizar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Escalas, calidad y estadística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 dónde salen los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OLTP, almacén y ETL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Modelar para analizar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Hechos, dimensiones y cubos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Analizar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Relaciones, segmentación y minería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Comunicar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KPIs, informes y cuadros de mando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Anticipar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Series temporales y pronósticos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Construir un proyecto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Del encargo al cuadro de mando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introducción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un caso que lo atraviesa todo: Rueda Libre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Presentación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Una cadena de doce tiendas de bicicletas con taller</a:t>
            </a:r>
          </a:p>
          <a:p>
            <a:pPr lvl="1"/>
            <a:r>
              <a:rPr sz="1150"/>
              <a:t>Seis fuentes de datos que no casan entre sí.</a:t>
            </a:r>
          </a:p>
          <a:p>
            <a:pPr lvl="1"/>
            <a:r>
              <a:rPr sz="1150"/>
              <a:t>Cuatro definiciones distintas de la palabra «venta».</a:t>
            </a:r>
          </a:p>
          <a:p>
            <a:pPr lvl="1"/>
            <a:r>
              <a:rPr sz="1150"/>
              <a:t>Un cliente que puede estar dado de alta cinco veces.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pregunta que abre el proyecto</a:t>
            </a:r>
          </a:p>
          <a:p>
            <a:pPr lvl="1"/>
            <a:r>
              <a:rPr sz="1150"/>
              <a:t>«¿Por qué la tienda de Valencia vende más que la de Zaragoza si son del mismo tamaño?»</a:t>
            </a:r>
          </a:p>
          <a:p>
            <a:pPr lvl="1"/>
            <a:r>
              <a:rPr sz="1150"/>
              <a:t>Responderla bien ocupa las ocho sesiones.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Presentación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Manolo · el taller</a:t>
            </a:r>
          </a:p>
          <a:p>
            <a:pPr lvl="1"/>
            <a:r>
              <a:rPr sz="1100"/>
              <a:t>Acepta restauraciones que le llevan tres semanas.</a:t>
            </a:r>
          </a:p>
          <a:p>
            <a:pPr lvl="1"/>
            <a:r>
              <a:rPr sz="1100"/>
              <a:t>Es el VALOR ATÍPICO del curso.</a:t>
            </a:r>
          </a:p>
          <a:p>
            <a:pPr lvl="1"/>
            <a:r>
              <a:rPr sz="1100"/>
              <a:t>Infla la media, descuadra el margen, rompe la carga nocturna y arruina el pronóstico.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Gertru · los datos</a:t>
            </a:r>
          </a:p>
          <a:p>
            <a:pPr lvl="1"/>
            <a:r>
              <a:rPr sz="1100"/>
              <a:t>Es el contrapeso: el extremo por el lado contrario.</a:t>
            </a:r>
          </a:p>
          <a:p>
            <a:pPr lvl="1"/>
            <a:r>
              <a:rPr sz="1100"/>
              <a:t>Pregunta de dónde sale cada cifra.</a:t>
            </a:r>
          </a:p>
          <a:p>
            <a:pPr lvl="1"/>
            <a:r>
              <a:rPr sz="1100"/>
              <a:t>Recuerda que un valor atípico NO ES NECESARIAMENTE UN ERROR.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Los dos personajes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Todo el curso cabe en una pregunta:</a:t>
            </a:r>
          </a:p>
          <a:p>
            <a:pPr/>
            <a:r>
              <a:rPr sz="3000"/>
              <a:t>¿este dato es un Manolo,</a:t>
            </a:r>
          </a:p>
          <a:p>
            <a:pPr/>
            <a:r>
              <a:rPr sz="3000"/>
              <a:t>o es la realidad?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1 · Qué es Business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Tener datos no es entenderlos</a:t>
            </a:r>
          </a:p>
          <a:p>
            <a:pPr/>
            <a:r>
              <a:rPr sz="900"/>
              <a:t>Dato frente a información</a:t>
            </a:r>
          </a:p>
          <a:p>
            <a:pPr/>
            <a:r>
              <a:rPr sz="900"/>
              <a:t>La pirámide organizacional</a:t>
            </a:r>
          </a:p>
          <a:p>
            <a:pPr/>
            <a:r>
              <a:rPr sz="900"/>
              <a:t>Los cuatro niveles de analítica</a:t>
            </a:r>
          </a:p>
          <a:p>
            <a:pPr/>
            <a:r>
              <a:rPr sz="900"/>
              <a:t>Las familias de herramientas</a:t>
            </a:r>
          </a:p>
          <a:p>
            <a:pPr/>
            <a:r>
              <a:rPr sz="900"/>
              <a:t>El recorrido del dato a la decisión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Antes de montar nada, para qué sirve lo que se va a montar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La mayoría de los proyectos de BI que fracasan NO fracasan por la tecnología.</a:t>
            </a:r>
          </a:p>
          <a:p>
            <a:pPr lvl="1"/>
            <a:r>
              <a:rPr sz="1150"/>
              <a:t>Fracasan porque nadie se detuvo a preguntar qué decisión iba a mejorar el resultado.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Este capítulo responde a tres cosas</a:t>
            </a:r>
          </a:p>
          <a:p>
            <a:pPr lvl="1"/>
            <a:r>
              <a:rPr sz="1150"/>
              <a:t>Qué es exactamente Business Intelligence, y qué no lo es.</a:t>
            </a:r>
          </a:p>
          <a:p>
            <a:pPr lvl="1"/>
            <a:r>
              <a:rPr sz="1150"/>
              <a:t>Quién necesita qué información dentro de una organización.</a:t>
            </a:r>
          </a:p>
          <a:p>
            <a:pPr lvl="1"/>
            <a:r>
              <a:rPr sz="1150"/>
              <a:t>Cuál es el recorrido completo, del dato a la decisión.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1.1 · Cinco mil nóminas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Alguien quiere saber cómo se mueven los salarios en su empresa. Le entregan las nóminas de los 5.000 empleados.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Un paquete de 500 hojas ocupa unos 5 cm.  →  5.000 nóminas son 50 cm de papel.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Ahí está toda la verdad. No hay más información disponible: ésa es la fuente.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Y sin embargo, alguien podría pasar una semana leyéndolas y al terminar</a:t>
            </a:r>
          </a:p>
          <a:p>
            <a:pPr/>
            <a:r>
              <a:rPr sz="1150"/>
              <a:t>seguiría sin saber cómo se mueven los salarios. Recordaría el más alto</a:t>
            </a:r>
          </a:p>
          <a:p>
            <a:pPr/>
            <a:r>
              <a:rPr sz="1150"/>
              <a:t>y el más bajo. Nada 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Tener datos y entender los datos</a:t>
            </a:r>
          </a:p>
          <a:p>
            <a:pPr/>
            <a:r>
              <a:rPr sz="3000"/>
              <a:t>son dos cosas distintas.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problema no es de acceso al dato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Es de capacidad de proceso</a:t>
            </a:r>
          </a:p>
          <a:p>
            <a:pPr lvl="1"/>
            <a:r>
              <a:rPr sz="1150"/>
              <a:t>Un cerebro humano no puede sostener cinco mil valores a la vez.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hace falta es un mecanismo para RESUMIR</a:t>
            </a:r>
          </a:p>
          <a:p>
            <a:pPr lvl="1"/>
            <a:r>
              <a:rPr sz="1150"/>
              <a:t>Pero todo resumen pierde información.</a:t>
            </a:r>
          </a:p>
          <a:p>
            <a:pPr lvl="1"/>
            <a:r>
              <a:rPr sz="1150"/>
              <a:t>La habilidad consiste en perder la que no importa.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Toda la estadística descriptiva —y por extensión todo el Business Intelligence— existe para eso.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1.2 · Dato e información no son lo mismo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Se conoce el peso de una persona de altura promedio: 140 kg. Eso es el DATO. La INFORMACIÓN que transporta es otra cosa: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Con altísima probabilidad tiene más de veinte años.</a:t>
            </a:r>
          </a:p>
          <a:p>
            <a:pPr/>
            <a:r>
              <a:rPr sz="1150"/>
              <a:t>Es probable que tenga problemas de salud asociados al sobrepeso.</a:t>
            </a:r>
          </a:p>
          <a:p>
            <a:pPr/>
            <a:r>
              <a:rPr sz="1150"/>
              <a:t>Es probable que su alimentación no sea equilibrada.</a:t>
            </a:r>
          </a:p>
          <a:p>
            <a:pPr/>
            <a:r>
              <a:rPr sz="1150"/>
              <a:t>Es probable que no haga ejercicio con regularidad.</a:t>
            </a:r>
          </a:p>
          <a:p>
            <a:pPr/>
            <a:r>
              <a:rPr sz="1150"/>
              <a:t>Su talla de ropa es 3XL o superior.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Ninguna de esas conclusiones está escrita en el dato. Todas se derivan de él.</a:t>
            </a:r>
          </a:p>
          <a:p>
            <a:pPr/>
            <a:r>
              <a:rPr sz="1150"/>
              <a:t>Y todas pueden ser falsas: podría ser un culturista.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Lo que se hace</a:t>
            </a:r>
          </a:p>
          <a:p>
            <a:pPr lvl="1"/>
            <a:r>
              <a:rPr sz="1100"/>
              <a:t>Se recogen datos concretos sobre un fenómeno.</a:t>
            </a:r>
          </a:p>
          <a:p>
            <a:pPr lvl="1"/>
            <a:r>
              <a:rPr sz="1100"/>
              <a:t>Para poder afirmar cosas que los datos no dicen literalmente.</a:t>
            </a:r>
          </a:p>
          <a:p>
            <a:pPr lvl="1"/>
            <a:r>
              <a:rPr sz="1100"/>
              <a:t>Con más datos, mejores estimaciones.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El riesgo, que es el mismo</a:t>
            </a:r>
          </a:p>
          <a:p>
            <a:pPr lvl="1"/>
            <a:r>
              <a:rPr sz="1100"/>
              <a:t>Cuanto más lejos se llega en la inferencia, más fácil es equivocarse.</a:t>
            </a:r>
          </a:p>
          <a:p>
            <a:pPr lvl="1"/>
            <a:r>
              <a:rPr sz="1100"/>
              <a:t>Un cuadro de mando que MUESTRA datos es inofensivo.</a:t>
            </a:r>
          </a:p>
          <a:p>
            <a:pPr lvl="1"/>
            <a:r>
              <a:rPr sz="1100"/>
              <a:t>Uno que SUGIERE conclusiones sin decir con qué confianza, no.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La misma mecánica que un proyecto de BI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1.3 · Qué es y qué no es Business Intelligence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NO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SÍ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Hacer gráficos bonitos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Definir qué se mide y por qué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Sacar un listado de un sistema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Integrar fuentes en una versión única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Una herramienta concreta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Una capa entre los sistemas y las personas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proyecto que termina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servicio que se mantiene y evoluciona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Analítica avanzada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La base sobre la que ésta se sostiene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confusión más frecuente es la primera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Una organización puede tener veinte cuadros de mando y ninguna inteligencia de negocio.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prueba</a:t>
            </a:r>
          </a:p>
          <a:p>
            <a:pPr lvl="1"/>
            <a:r>
              <a:rPr sz="1150"/>
              <a:t>Si esos cuadros no responden a preguntas que alguien se esté haciendo de verdad, no son BI.</a:t>
            </a:r>
          </a:p>
          <a:p>
            <a:pPr lvl="1"/>
            <a:r>
              <a:rPr sz="1150"/>
              <a:t>Son informes con más colores.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1.4 · La pirámide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Las decisiones no se toman igual en todos los niveles, y por tanto no necesitan la misma información.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  ┌─────────────┐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  │ ESTRATÉGICO │   Dirección · horizonte: años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  └─────────────┘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┌─────────────────┐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│     TÁCTICO     │   Mandos · horizonte: meses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└─────────────────┘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┌─────────────────────────┐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│       OPERATIVO         │   Tienda y taller · hoy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└─────────────────────────┘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Qué necesita cada nivel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Nivel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Pregunta típica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Granularidad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Frecuencia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Operativo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reparaciones tengo sin cerrar?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registro individual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Continua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Táctico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¿Cómo va mi tienda frente al objetivo?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Tienda y mes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Semanal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Estratégico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¿Abrimos tienda en Bilbao?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Muy agregado, series largas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Trimestral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misma cifra</a:t>
            </a:r>
          </a:p>
          <a:p>
            <a:pPr/>
            <a:r>
              <a:rPr sz="3000"/>
              <a:t>no sirve para los tres niveles.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error más frecuente en cuadros de mando corporativos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Diseñar uno solo y repartirlo hacia arriba y hacia abajo</a:t>
            </a:r>
          </a:p>
          <a:p>
            <a:pPr lvl="1"/>
            <a:r>
              <a:rPr sz="1150"/>
              <a:t>Termina siendo demasiado agregado para quien opera…</a:t>
            </a:r>
          </a:p>
          <a:p>
            <a:pPr lvl="1"/>
            <a:r>
              <a:rPr sz="1150"/>
              <a:t>…y demasiado detallado para quien dirige.</a:t>
            </a:r>
          </a:p>
          <a:p>
            <a:pPr lvl="1"/>
            <a:r>
              <a:rPr sz="1150"/>
              <a:t>Resultado: no lo usa nadie.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el caso Rueda Libre</a:t>
            </a:r>
          </a:p>
          <a:p>
            <a:pPr lvl="1"/>
            <a:r>
              <a:rPr sz="1150"/>
              <a:t>Se construyeron TRES cuadros de mando distintos, uno por nivel.</a:t>
            </a:r>
          </a:p>
          <a:p>
            <a:pPr lvl="1"/>
            <a:r>
              <a:rPr sz="1150"/>
              <a:t>Sobre el mismo modelo y las mismas definiciones.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1.5 · Los cuatro niveles de analítica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Es el mapa que ordena todo el curso, y también la escalera por la que se sube.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DESCRIPTIVA      ¿Qué ha pasado?         Informes, cuadros de mando, KPIs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↓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DIAGNÓSTICA      ¿Por qué ha pasado?     Segmentación, correlación, drill-down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↓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PREDICTIVA       ¿Qué puede pasar?       Series temporales, modelos, pronósticos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↓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PRESCRIPTIVA     ¿Qué debería hacer?     Optimización, simulación, reglas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Tres observaciones que ahorran disgustos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No se pueden saltar escalones</a:t>
            </a:r>
          </a:p>
          <a:p>
            <a:pPr lvl="1"/>
            <a:r>
              <a:rPr sz="1150"/>
              <a:t>Una organización en la que cada sistema da una cifra distinta de venta no está en condiciones de predecir nada.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valor sube y la fiabilidad baja</a:t>
            </a:r>
          </a:p>
          <a:p>
            <a:pPr lvl="1"/>
            <a:r>
              <a:rPr sz="1150"/>
              <a:t>Cuanto más arriba, más útil es la respuesta y más incierta.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mayor parte del retorno está en los dos primeros escalones</a:t>
            </a:r>
          </a:p>
          <a:p>
            <a:pPr lvl="1"/>
            <a:r>
              <a:rPr sz="1150"/>
              <a:t>Muchos proyectos vendidos como predictivos habrían dado más valor arreglando el descriptivo.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1.6 · Las familias de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Conviene conocer las familias y no las marcas: las marcas de dentro de cinco años serán otras.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Ejemplos actuales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Integración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Extraer, transformar y cargar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Talend, Data Factory, dbt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Almacenamiento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Guardar el histórico integrado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Snowflake, BigQuery, SQL Server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Modelo semántico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Definir métricas una sola vez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Analysis Services, dbt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Visualización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Informes y cuadros de mando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Power BI, Tableau, Looker, Qlik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Analítica avanzada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Modelos estadísticos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Python, R, servicios gestionados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Gobierno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Catálogo, linaje, calidad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Purview, Collibra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herramienta es la ÚLTIMA decisión</a:t>
            </a:r>
          </a:p>
          <a:p>
            <a:pPr/>
            <a:r>
              <a:rPr sz="3000"/>
              <a:t>de un proyecto de BI,</a:t>
            </a:r>
          </a:p>
          <a:p>
            <a:pPr/>
            <a:r>
              <a:rPr sz="3000"/>
              <a:t>no la primera.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qué importa el orden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Cuando una organización empieza eligiendo herramienta, acaba adaptando sus preguntas a lo que la herramienta sabe responder.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este curso</a:t>
            </a:r>
          </a:p>
          <a:p>
            <a:pPr lvl="1"/>
            <a:r>
              <a:rPr sz="1150"/>
              <a:t>El enfoque es agnóstico: demos y ejercicios de razonamiento.</a:t>
            </a:r>
          </a:p>
          <a:p>
            <a:pPr lvl="1"/>
            <a:r>
              <a:rPr sz="1150"/>
              <a:t>Todo lo que se explica se aplica igual en Power BI, en Tableau o en una hoja de cálculo.</a:t>
            </a:r>
          </a:p>
          <a:p>
            <a:pPr lvl="1"/>
            <a:r>
              <a:rPr sz="1150"/>
              <a:t>Lo que cambia entre herramientas son los botones. Lo que no cambia es si el indicador está bien definido.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1.7 · El recorrido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Este esquema aparece en todas las sesiones. Cada capítulo desarrolla uno o dos de sus eslabones.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>
                <a:solidFill>
                  <a:srgbClr val="1C1E3B"/>
                </a:solidFill>
                <a:latin typeface="Menlo"/>
              </a:rPr>
              <a:t>Pregunta de negocio     ¿Qué decisión hay que tomar?         cap. 1, 13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Datos                   ¿Qué fuentes existen?                cap. 6, 7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Calidad del dato        ¿Se puede confiar en ellas?          cap. 3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Análisis estadístico    ¿Qué dicen realmente?                cap. 4, 5, 9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Modelo / indicador      ¿Cómo se resume sin mentir?          cap. 8, 11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Visualización           ¿Cómo se muestra?                    cap. 11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Interpretación          ¿Qué se puede concluir?              cap. 5, 9, 12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        ↓</a:t>
            </a:r>
          </a:p>
          <a:p>
            <a:pPr/>
            <a:r>
              <a:rPr sz="850">
                <a:solidFill>
                  <a:srgbClr val="1C1E3B"/>
                </a:solidFill>
                <a:latin typeface="Menlo"/>
              </a:rPr>
              <a:t>Decisión                ¿Qué se hace distinto mañana?        cap.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Lo que se suele hacer</a:t>
            </a:r>
          </a:p>
          <a:p>
            <a:pPr lvl="1"/>
            <a:r>
              <a:rPr sz="1100"/>
              <a:t>Datos → ETL → Almacén → Cuadro de mando.</a:t>
            </a:r>
          </a:p>
          <a:p>
            <a:pPr lvl="1"/>
            <a:r>
              <a:rPr sz="1100"/>
              <a:t>Cuatro eslabones. Todos técnicos.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Lo que se salta</a:t>
            </a:r>
          </a:p>
          <a:p>
            <a:pPr lvl="1"/>
            <a:r>
              <a:rPr sz="1100"/>
              <a:t>La PREGUNTA: para qué se hace.</a:t>
            </a:r>
          </a:p>
          <a:p>
            <a:pPr lvl="1"/>
            <a:r>
              <a:rPr sz="1100"/>
              <a:t>La CALIDAD: si el dato aguanta.</a:t>
            </a:r>
          </a:p>
          <a:p>
            <a:pPr lvl="1"/>
            <a:r>
              <a:rPr sz="1100"/>
              <a:t>La INTERPRETACIÓN: qué se puede concluir.</a:t>
            </a:r>
          </a:p>
          <a:p>
            <a:pPr lvl="1"/>
            <a:r>
              <a:rPr sz="1100"/>
              <a:t>Precisamente los tres que determinan si el cuadro de mando dice la verdad.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La versión reducida que circula por ahí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1.8 · Las nueve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Se presentan aquí y se aplican en todos los ejercicios del curso. Es la herramienta más útil, y no requiere ninguna tecnología.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¿Qué estoy midiendo exactamente?</a:t>
            </a:r>
          </a:p>
          <a:p>
            <a:pPr/>
            <a:r>
              <a:rPr sz="1150"/>
              <a:t>2 · ¿De dónde viene el dato?</a:t>
            </a:r>
          </a:p>
          <a:p>
            <a:pPr/>
            <a:r>
              <a:rPr sz="1150"/>
              <a:t>3 · ¿Es comparable con aquello con lo que lo comparo?</a:t>
            </a:r>
          </a:p>
          <a:p>
            <a:pPr/>
            <a:r>
              <a:rPr sz="1150"/>
              <a:t>4 · ¿Qué distribución tiene?</a:t>
            </a:r>
          </a:p>
          <a:p>
            <a:pPr/>
            <a:r>
              <a:rPr sz="1150"/>
              <a:t>5 · ¿Es representativa la media?</a:t>
            </a:r>
          </a:p>
          <a:p>
            <a:pPr/>
            <a:r>
              <a:rPr sz="1150"/>
              <a:t>6 · ¿Hay valores extremos y qué significan?</a:t>
            </a:r>
          </a:p>
          <a:p>
            <a:pPr/>
            <a:r>
              <a:rPr sz="1150"/>
              <a:t>7 · ¿Estoy comparando poblaciones equivalentes?</a:t>
            </a:r>
          </a:p>
          <a:p>
            <a:pPr/>
            <a:r>
              <a:rPr sz="1150"/>
              <a:t>8 · ¿Existe realmente una tendencia?</a:t>
            </a:r>
          </a:p>
          <a:p>
            <a:pPr/>
            <a:r>
              <a:rPr sz="1150"/>
              <a:t>9 · ¿Qué decisión tomaría con este dato?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2 · Escalas de medida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Cualitativo y cuantitativo</a:t>
            </a:r>
          </a:p>
          <a:p>
            <a:pPr/>
            <a:r>
              <a:rPr sz="900"/>
              <a:t>Un número no es una cantidad</a:t>
            </a:r>
          </a:p>
          <a:p>
            <a:pPr/>
            <a:r>
              <a:rPr sz="900"/>
              <a:t>Nominal, ordinal y cuantitativa</a:t>
            </a:r>
          </a:p>
          <a:p>
            <a:pPr/>
            <a:r>
              <a:rPr sz="900"/>
              <a:t>Discreta y continua · razón e intervalo</a:t>
            </a:r>
          </a:p>
          <a:p>
            <a:pPr/>
            <a:r>
              <a:rPr sz="900"/>
              <a:t>La escalera de medida</a:t>
            </a:r>
          </a:p>
          <a:p>
            <a:pPr/>
            <a:r>
              <a:rPr sz="900"/>
              <a:t>Por qué esto decide todo lo demás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Este capítulo parece elemental y no lo 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Todas las técnicas estadísticas, todos los gráficos y buena parte de las decisiones de modelado dependen de la escala en la que está medido el dato.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Saltárselo es la causa número uno</a:t>
            </a:r>
          </a:p>
          <a:p>
            <a:pPr lvl="1"/>
            <a:r>
              <a:rPr sz="1150"/>
              <a:t>De cuadros de mando conceptualmente falsos.</a:t>
            </a:r>
          </a:p>
          <a:p>
            <a:pPr lvl="1"/>
            <a:r>
              <a:rPr sz="1150"/>
              <a:t>Confía: cuando lleguemos al modelo dimensional, todo esto encajará.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2.1 · La distinción fundamental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Datos CUALITATIVOS y datos CUANTITATIVOS</a:t>
            </a:r>
          </a:p>
          <a:p>
            <a:pPr lvl="1"/>
            <a:r>
              <a:rPr sz="1150"/>
              <a:t>Más exactamente: datos MEDIDOS de forma cualitativa o cuantitativa.</a:t>
            </a:r>
          </a:p>
          <a:p>
            <a:pPr lvl="1"/>
            <a:r>
              <a:rPr sz="1150"/>
              <a:t>Lo que se clasifica no es el dato: es la manera de representarlo.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diferencia está en una sola cosa</a:t>
            </a:r>
          </a:p>
          <a:p>
            <a:pPr lvl="1"/>
            <a:r>
              <a:rPr sz="1150"/>
              <a:t>Si el dato representa una CANTIDAD o no.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número</a:t>
            </a:r>
          </a:p>
          <a:p>
            <a:pPr/>
            <a:r>
              <a:rPr sz="3000"/>
              <a:t>no es una cantidad.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punto que casi nadie tiene claro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Cuantitativo viene de «cantidad». Y estos están compuestos de cifras sin ser cantidades: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Número de teléfono          Código postal</a:t>
            </a:r>
          </a:p>
          <a:p>
            <a:pPr/>
            <a:r>
              <a:rPr sz="1150"/>
              <a:t>Número de cliente           Código de artículo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Para que algo sea una CANTIDAD tiene que tener una UNIDAD DE MEDIDA asociada,</a:t>
            </a:r>
          </a:p>
          <a:p>
            <a:pPr/>
            <a:r>
              <a:rPr sz="1150"/>
              <a:t>que diga qué se está contando.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140 kg es una cantidad: la unidad es el kilogramo.</a:t>
            </a:r>
          </a:p>
          <a:p>
            <a:pPr/>
            <a:r>
              <a:rPr sz="1150"/>
              <a:t>El código postal 28850 no lo es: no hay unidad.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esto no es una sutileza académica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Casi todas las herramientas de BI clasifican por naturaleza técnica</a:t>
            </a:r>
          </a:p>
          <a:p>
            <a:pPr lvl="1"/>
            <a:r>
              <a:rPr sz="1150"/>
              <a:t>Esto es un texto, esto es un número, esto es una fecha.</a:t>
            </a:r>
          </a:p>
          <a:p>
            <a:pPr lvl="1"/>
            <a:r>
              <a:rPr sz="1150"/>
              <a:t>Verán una columna de números y ofrecerán sumarla.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decisión es de quien modela</a:t>
            </a:r>
          </a:p>
          <a:p>
            <a:pPr lvl="1"/>
            <a:r>
              <a:rPr sz="1150"/>
              <a:t>Una herramienta que suma códigos postales no está fallando: está haciendo lo que se le ha pedido.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unidades no tienen que ser del Sistema Internacional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Son perfectamente válidas para estadística: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Número de hijos            unidad: hijos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Número de visitas          unidad: visitas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Número de reparaciones     unidad: reparaciones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Importe de venta           unidad: euros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Tiempo de reparación       unidad: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2.2 · La escala nominal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Nominal viene de NOMBRE. Se asigna una palabra a cada forma que puede adoptar el dato. En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Tipo de producto      bicicleta · componente · accesorio · ropa</a:t>
            </a:r>
          </a:p>
          <a:p>
            <a:pPr/>
            <a:r>
              <a:rPr sz="1150"/>
              <a:t>Forma de pago         efectivo · tarjeta · financiación · transferencia</a:t>
            </a:r>
          </a:p>
          <a:p>
            <a:pPr/>
            <a:r>
              <a:rPr sz="1150"/>
              <a:t>Tienda                Valencia · Zaragoza · Bilbao · …</a:t>
            </a:r>
          </a:p>
          <a:p>
            <a:pPr/>
            <a:r>
              <a:rPr sz="1150"/>
              <a:t>Canal                 tienda física · web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Lo que permite es CLASIFICAR. Nada más.</a:t>
            </a:r>
          </a:p>
          <a:p>
            <a:pPr/>
            <a:r>
              <a:rPr sz="1150"/>
              <a:t>No hay orden: no tiene sentido decir que «efectivo» va antes que «tarjeta».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Sí se puede</a:t>
            </a:r>
          </a:p>
          <a:p>
            <a:pPr lvl="1"/>
            <a:r>
              <a:rPr sz="1100"/>
              <a:t>Contar frecuencias de cada categoría.</a:t>
            </a:r>
          </a:p>
          <a:p>
            <a:pPr lvl="1"/>
            <a:r>
              <a:rPr sz="1100"/>
              <a:t>Calcular la MODA: la categoría más frecuente.</a:t>
            </a:r>
          </a:p>
          <a:p>
            <a:pPr lvl="1"/>
            <a:r>
              <a:rPr sz="1100"/>
              <a:t>Diagrama de barras y de sectores.</a:t>
            </a:r>
          </a:p>
          <a:p>
            <a:pPr lvl="1"/>
            <a:r>
              <a:rPr sz="1100"/>
              <a:t>Usarla como dimensión de un modelo.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No se puede</a:t>
            </a:r>
          </a:p>
          <a:p>
            <a:pPr lvl="1"/>
            <a:r>
              <a:rPr sz="1100"/>
              <a:t>Mediana: no hay orden que permita buscar el centro.</a:t>
            </a:r>
          </a:p>
          <a:p>
            <a:pPr lvl="1"/>
            <a:r>
              <a:rPr sz="1100"/>
              <a:t>Media: no hay unidad que permita sumar.</a:t>
            </a:r>
          </a:p>
          <a:p>
            <a:pPr lvl="1"/>
            <a:r>
              <a:rPr sz="1100"/>
              <a:t>Frecuencia acumulada: no significa nada.</a:t>
            </a:r>
          </a:p>
          <a:p>
            <a:pPr lvl="1"/>
            <a:r>
              <a:rPr sz="1100"/>
              <a:t>Percentiles ni desviación típica.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Qué se puede hacer con una escala nominal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2.3 · La escala ordinal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Nivel de satisfacción: bajo · medio · alto</a:t>
            </a:r>
          </a:p>
          <a:p>
            <a:pPr lvl="1"/>
            <a:r>
              <a:rPr sz="1150"/>
              <a:t>Son tres palabras, tres categorías: sirven para clasificar. Luego es una escala nominal.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además tienen un ORDEN implícito</a:t>
            </a:r>
          </a:p>
          <a:p>
            <a:pPr lvl="1"/>
            <a:r>
              <a:rPr sz="1150"/>
              <a:t>Alto está más satisfecho que medio, y medio más que bajo.</a:t>
            </a:r>
          </a:p>
          <a:p>
            <a:pPr lvl="1"/>
            <a:r>
              <a:rPr sz="1150"/>
              <a:t>Eso permite algo nuevo: ORDENAR a los individuos.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Por definición, toda escala ordinal es también nominal</a:t>
            </a:r>
          </a:p>
          <a:p>
            <a:pPr lvl="1"/>
            <a:r>
              <a:rPr sz="1150"/>
              <a:t>Lo que añade es la posibilidad de ordenar.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Ordinales en Rueda Libre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Variables medidas en escala ordinal en el caso del curso: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Prioridad de la reparación     baja · normal · urgente</a:t>
            </a:r>
          </a:p>
          <a:p>
            <a:pPr/>
            <a:r>
              <a:rPr sz="1150"/>
              <a:t>Segmento de cliente            ocasional · habitual · premium</a:t>
            </a:r>
          </a:p>
          <a:p>
            <a:pPr/>
            <a:r>
              <a:rPr sz="1150"/>
              <a:t>Valoración del servicio        1 a 5 estrellas</a:t>
            </a:r>
          </a:p>
          <a:p>
            <a:pPr/>
            <a:r>
              <a:rPr sz="1150"/>
              <a:t>Nivel de stock                 agotado · bajo · normal · exceso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Admiten: frecuencias, moda, MEDIANA, cuartiles y percentiles,</a:t>
            </a:r>
          </a:p>
          <a:p>
            <a:pPr/>
            <a:r>
              <a:rPr sz="1150"/>
              <a:t>y tienen sentido las frecuencias acumuladas.</a:t>
            </a:r>
          </a:p>
          <a:p>
            <a:pPr/>
            <a:r>
              <a:rPr sz="1150"/>
              <a:t>Siguen sin admitir la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Una valoración de 1 a 5 estrellas</a:t>
            </a:r>
          </a:p>
          <a:p>
            <a:pPr/>
            <a:r>
              <a:rPr sz="3000"/>
              <a:t>está compuesta de números</a:t>
            </a:r>
          </a:p>
          <a:p>
            <a:pPr/>
            <a:r>
              <a:rPr sz="3000"/>
              <a:t>y es ORDINAL.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trampa más común de todo el capítulo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No hay unidad de medida</a:t>
            </a:r>
          </a:p>
          <a:p>
            <a:pPr lvl="1"/>
            <a:r>
              <a:rPr sz="1150"/>
              <a:t>La distancia entre 1 y 2 estrellas no es necesariamente la misma que entre 4 y 5.</a:t>
            </a:r>
          </a:p>
          <a:p>
            <a:pPr lvl="1"/>
            <a:r>
              <a:rPr sz="1150"/>
              <a:t>Lo que para un cliente es un 3, para otro es un 4.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Promediar valoraciones es matemáticamente posible y conceptualmente discutible</a:t>
            </a:r>
          </a:p>
          <a:p>
            <a:pPr lvl="1"/>
            <a:r>
              <a:rPr sz="1150"/>
              <a:t>En la práctica lo hace todo el mundo.</a:t>
            </a:r>
          </a:p>
          <a:p>
            <a:pPr lvl="1"/>
            <a:r>
              <a:rPr sz="1150"/>
              <a:t>Lo que no se puede omitir es publicar la DISTRIBUCIÓN al lado.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qué la distribución es imprescindible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Dos negocios completamente distintos con la misma media de satisfacción: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Negocio A     todos puntúan 3 y 4        →  media 3,5</a:t>
            </a:r>
          </a:p>
          <a:p>
            <a:pPr/>
            <a:r>
              <a:rPr sz="1150"/>
              <a:t>Negocio B     la mitad puntúa 1</a:t>
            </a:r>
          </a:p>
          <a:p>
            <a:pPr/>
            <a:r>
              <a:rPr sz="1150"/>
              <a:t>              la otra mitad puntúa 5     →  media 3,5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La media no distingue entre «servicio mediocre y uniforme»</a:t>
            </a:r>
          </a:p>
          <a:p>
            <a:pPr/>
            <a:r>
              <a:rPr sz="1150"/>
              <a:t>y «servicio que enamora a la mitad y espanta a la otra mitad».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Alternativa: convertirlo en % de detractores y promotores.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2.4 · La escala cuantitativa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Representa una cantidad y tiene unidad de medida</a:t>
            </a:r>
          </a:p>
          <a:p>
            <a:pPr lvl="1"/>
            <a:r>
              <a:rPr sz="1150"/>
              <a:t>Esa unidad es lo que abre la puerta a las operaciones matemáticas CON SENTIDO REAL.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distinción importa</a:t>
            </a:r>
          </a:p>
          <a:p>
            <a:pPr lvl="1"/>
            <a:r>
              <a:rPr sz="1150"/>
              <a:t>Matemáticamente se pueden sumar dos códigos postales. El resultado es correcto y no significa nada.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Operaciones con y sin sentido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misma operación aritmética, dos resultados muy distintos: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19200 + 28850 = 48050        ¿qué representa este número?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calle 17 + calle 25 = 42     ¿y éste?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2 hijos + 3 hijos = 5 hijos          Tiene sentido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80 kg - 70 kg = 10 kg de diferencia  Tiene sentido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 potencia de los datos cuantitativos no está en que sean números.</a:t>
            </a:r>
          </a:p>
          <a:p>
            <a:pPr/>
            <a:r>
              <a:rPr sz="1150"/>
              <a:t>Está en que las operaciones que se hagan con ellos siguen significando algo en el mundo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Discretos</a:t>
            </a:r>
          </a:p>
          <a:p>
            <a:pPr lvl="1"/>
            <a:r>
              <a:rPr sz="1100"/>
              <a:t>Sólo admiten valores enteros.</a:t>
            </a:r>
          </a:p>
          <a:p>
            <a:pPr lvl="1"/>
            <a:r>
              <a:rPr sz="1100"/>
              <a:t>Número de reparaciones, unidades vendidas, visitas.</a:t>
            </a:r>
          </a:p>
          <a:p>
            <a:pPr lvl="1"/>
            <a:r>
              <a:rPr sz="1100"/>
              <a:t>Pocos valores distintos → tabla de frecuencias directa.</a:t>
            </a:r>
          </a:p>
          <a:p>
            <a:pPr lvl="1"/>
            <a:r>
              <a:rPr sz="1100"/>
              <a:t>Gráfico: diagrama de barras.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Continuos</a:t>
            </a:r>
          </a:p>
          <a:p>
            <a:pPr lvl="1"/>
            <a:r>
              <a:rPr sz="1100"/>
              <a:t>Cualquier valor dentro de un rango, decimales incluidos.</a:t>
            </a:r>
          </a:p>
          <a:p>
            <a:pPr lvl="1"/>
            <a:r>
              <a:rPr sz="1100"/>
              <a:t>Importe de venta, tiempo de reparación, peso.</a:t>
            </a:r>
          </a:p>
          <a:p>
            <a:pPr lvl="1"/>
            <a:r>
              <a:rPr sz="1100"/>
              <a:t>Muchísimos valores → hay que AGRUPAR EN INTERVALOS.</a:t>
            </a:r>
          </a:p>
          <a:p>
            <a:pPr lvl="1"/>
            <a:r>
              <a:rPr sz="1100"/>
              <a:t>Gráfico: histograma.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Según cuántos valores puede tomar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De razón</a:t>
            </a:r>
          </a:p>
          <a:p>
            <a:pPr lvl="1"/>
            <a:r>
              <a:rPr sz="1100"/>
              <a:t>El cero es absoluto: significa ausencia de la propiedad.</a:t>
            </a:r>
          </a:p>
          <a:p>
            <a:pPr lvl="1"/>
            <a:r>
              <a:rPr sz="1100"/>
              <a:t>No existen valores negativos.</a:t>
            </a:r>
          </a:p>
          <a:p>
            <a:pPr lvl="1"/>
            <a:r>
              <a:rPr sz="1100"/>
              <a:t>Importe, unidades, tiempo, peso.</a:t>
            </a:r>
          </a:p>
          <a:p>
            <a:pPr lvl="1"/>
            <a:r>
              <a:rPr sz="1100"/>
              <a:t>Admite multiplicar y dividir.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De intervalo</a:t>
            </a:r>
          </a:p>
          <a:p>
            <a:pPr lvl="1"/>
            <a:r>
              <a:rPr sz="1100"/>
              <a:t>El cero es arbitrario, fijado por convenio.</a:t>
            </a:r>
          </a:p>
          <a:p>
            <a:pPr lvl="1"/>
            <a:r>
              <a:rPr sz="1100"/>
              <a:t>Temperatura en °C, año de nacimiento, altitud.</a:t>
            </a:r>
          </a:p>
          <a:p>
            <a:pPr lvl="1"/>
            <a:r>
              <a:rPr sz="1100"/>
              <a:t>Admite sumar y restar.</a:t>
            </a:r>
          </a:p>
          <a:p>
            <a:pPr lvl="1"/>
            <a:r>
              <a:rPr sz="1100"/>
              <a:t>NO admite multiplicar ni dividir.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Según dónde está el cero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consecuencia, con un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Por qué la distinción razón / intervalo no es teórica: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Familia A: 4 hijos · Familia B: 2 hijos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→ «A tiene el doble de hijos que B»              CORRECTO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Madrid: 30 °C · Oslo: 15 °C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→ «En Madrid hace el doble de calor que en Oslo» INCORRECTO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Se ve mejor llevándolo al extremo: si en Oslo hiciera -15 °C,</a:t>
            </a:r>
          </a:p>
          <a:p>
            <a:pPr/>
            <a:r>
              <a:rPr sz="1150"/>
              <a:t>la razón sería 30 / -15 = -2.  ¿Menos el doble de calor?</a:t>
            </a:r>
          </a:p>
          <a:p>
            <a:pPr/>
            <a:r>
              <a:rPr sz="1150"/>
              <a:t>El cero Celsius no es ausencia de temperatura: es el punto de congelación.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Cómo aparece esto en un cuadro de mando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«El margen ha crecido un 200 %»</a:t>
            </a:r>
          </a:p>
          <a:p>
            <a:pPr lvl="1"/>
            <a:r>
              <a:rPr sz="1150"/>
              <a:t>Es correcto si el margen es de razón y positivo.</a:t>
            </a:r>
          </a:p>
          <a:p>
            <a:pPr lvl="1"/>
            <a:r>
              <a:rPr sz="1150"/>
              <a:t>Si el margen del año anterior fue NEGATIVO, el porcentaje de variación deja de tener interpretación.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regla</a:t>
            </a:r>
          </a:p>
          <a:p>
            <a:pPr lvl="1"/>
            <a:r>
              <a:rPr sz="1150"/>
              <a:t>Cualquier indicador que pueda cruzar el cero necesita un tratamiento especial en las variaciones porcentuales.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Todo dato cuantitativo</a:t>
            </a:r>
          </a:p>
          <a:p>
            <a:pPr/>
            <a:r>
              <a:rPr sz="3000"/>
              <a:t>es también ORDINAL.</a:t>
            </a:r>
          </a:p>
          <a:p>
            <a:pPr/>
            <a:r>
              <a:rPr sz="3000"/>
              <a:t>Todo ordinal es también NOMINAL.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2.5 · La escalera de medida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«0 reparaciones», «1 reparación», «2 reparaciones» son categorías con las que se puede clasificar. Y además tienen orden.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CUANTITATIVA   ⊃   ORDINAL   ⊃   NOMINAL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De ahí salen las dos reglas más útiles del capítulo: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1 · SIEMPRE se puede BAJAR de escala.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2 · NUNCA se puede SUBIR.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Bajar de escala: la misma variable, tres medidas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Los mismos datos de taller, medidos de tres formas distintas: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CUANTITATIVA   Nº de reparaciones al mes: 0, 1, 2, 3, 7, 12…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ORDINAL        Volumen de taller: ninguno · bajo · medio · alto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NOMINAL        ¿Tiene actividad de taller?: sí /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Agrupar una variable cuantitativa en intervalos no es más que eso:</a:t>
            </a:r>
          </a:p>
          <a:p>
            <a:pPr/>
            <a:r>
              <a:rPr sz="1150"/>
              <a:t>bajarla a una escala ordinal.</a:t>
            </a:r>
          </a:p>
          <a:p>
            <a:pPr/>
            <a:r>
              <a:rPr sz="1150"/>
              <a:t>0 → ninguno   ·   1-2 → bajo   ·   3-5 → medio   ·   6+ → alto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nunca se puede subir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Sabiendo únicamente que una tienda «tiene actividad de taller» es imposible deducir si es baja o alta.</a:t>
            </a:r>
          </a:p>
          <a:p>
            <a:pPr lvl="1"/>
            <a:r>
              <a:rPr sz="1150"/>
              <a:t>Y mucho menos el número exacto de reparaciones.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Regla de diseño de almacenes que se deduce de aquí</a:t>
            </a:r>
          </a:p>
          <a:p>
            <a:pPr lvl="1"/>
            <a:r>
              <a:rPr sz="1150"/>
              <a:t>Se guarda SIEMPRE el dato al máximo nivel de detalle disponible.</a:t>
            </a:r>
          </a:p>
          <a:p>
            <a:pPr lvl="1"/>
            <a:r>
              <a:rPr sz="1150"/>
              <a:t>Bajar de escala se puede hacer en cualquier momento.</a:t>
            </a:r>
          </a:p>
          <a:p>
            <a:pPr lvl="1"/>
            <a:r>
              <a:rPr sz="1150"/>
              <a:t>Subir requiere volver a la fuente… si todavía existe.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2.6 · Por qué esto decide todo lo demás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Nominal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Ordinal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Cuantitativa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Frecuencias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Frecuencia acumulada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Cuartiles y percentiles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Desviación típica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Histograma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Sí (continua)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En el modelo dimensional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Dimensión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Dimensión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HECHO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Las dimensiones son nominales y ordinales.</a:t>
            </a:r>
          </a:p>
          <a:p>
            <a:pPr/>
            <a:r>
              <a:rPr sz="3000"/>
              <a:t>Los hechos son cuantitativos.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última fila merece leerse dos veces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Quien sepa determinar la escala de medida de cada columna tiene ya MEDIO MODELO DISEÑADO.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Rueda Libre</a:t>
            </a:r>
          </a:p>
          <a:p>
            <a:pPr lvl="1"/>
            <a:r>
              <a:rPr sz="1150"/>
              <a:t>Código postal → texto disfrazado de número → DIMENSIÓN.</a:t>
            </a:r>
          </a:p>
          <a:p>
            <a:pPr lvl="1"/>
            <a:r>
              <a:rPr sz="1150"/>
              <a:t>Importe → tiene unidad → HECHO.</a:t>
            </a:r>
          </a:p>
          <a:p>
            <a:pPr lvl="1"/>
            <a:r>
              <a:rPr sz="1150"/>
              <a:t>Valoración 1-5 → ordinal → DIMENSIÓN, y no se promedia.</a:t>
            </a:r>
          </a:p>
          <a:p>
            <a:pPr lvl="1"/>
            <a:r>
              <a:rPr sz="1150"/>
              <a:t>Descuento % → es un ratio → se guarda el importe, no el porcentaje.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3 · La calidad del dato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Las seis dimensiones de la calidad</a:t>
            </a:r>
          </a:p>
          <a:p>
            <a:pPr/>
            <a:r>
              <a:rPr sz="900"/>
              <a:t>Valores nulos</a:t>
            </a:r>
          </a:p>
          <a:p>
            <a:pPr/>
            <a:r>
              <a:rPr sz="900"/>
              <a:t>Duplicados</a:t>
            </a:r>
          </a:p>
          <a:p>
            <a:pPr/>
            <a:r>
              <a:rPr sz="900"/>
              <a:t>Codificaciones inconsistentes</a:t>
            </a:r>
          </a:p>
          <a:p>
            <a:pPr/>
            <a:r>
              <a:rPr sz="900"/>
              <a:t>Unidades, divisas y fechas</a:t>
            </a:r>
          </a:p>
          <a:p>
            <a:pPr/>
            <a:r>
              <a:rPr sz="900"/>
              <a:t>Granularidades distintas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Los datos son como los ingredientes de una cocina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Si no se limpian, si no se retira lo que no sirve, si no se cortan como toca, el resultado no será bueno por muy buena que sea la técnica.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error más común de quien empieza</a:t>
            </a:r>
          </a:p>
          <a:p>
            <a:pPr lvl="1"/>
            <a:r>
              <a:rPr sz="1150"/>
              <a:t>Lanzarse a aplicar técnicas sobre un conjunto que nadie ha revisado.</a:t>
            </a:r>
          </a:p>
          <a:p>
            <a:pPr lvl="1"/>
            <a:r>
              <a:rPr sz="1150"/>
              <a:t>Lo que se obtiene entonces no refleja la realidad: refleja los defectos del conjunto de datos.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preparación de los datos</a:t>
            </a:r>
          </a:p>
          <a:p>
            <a:pPr/>
            <a:r>
              <a:rPr sz="3000"/>
              <a:t>ocupa MÁS TIEMPO que el análisis.</a:t>
            </a:r>
          </a:p>
          <a:p>
            <a:pPr/>
            <a:r>
              <a:rPr sz="3000"/>
              <a:t>Entre el 60 % y el 80 %.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3.1 · Las seis dimensiones de la calidad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Pregunta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Fallo en Rueda Libre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Exactitud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¿El valor es correcto?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TPV de Bilbao con la fecha 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Completitud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¿Falta información?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18 % de tickets sin cliente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Consistencia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¿Las fuentes coinciden?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Web y TPV dan cifras distintas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Puntualidad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¿Llega a tiempo?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ERP vuelca el coste con un mes de retraso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Unicidad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¿Hay duplicados?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cliente dado de alta cinco veces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Validez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¿Cumple las reglas?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Salidas anteriores a la entrada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Ninguna de las seis se arregla en la capa de visualización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Todas se arreglan antes, en el proceso de carga.</a:t>
            </a:r>
          </a:p>
          <a:p>
            <a:pPr lvl="1"/>
            <a:r>
              <a:rPr sz="1150"/>
              <a:t>O no se arreglan.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el sitio ideal es la FUENTE, no la carga</a:t>
            </a:r>
          </a:p>
          <a:p>
            <a:pPr lvl="1"/>
            <a:r>
              <a:rPr sz="1150"/>
              <a:t>Un proceso de carga que corrige errores sistemáticos está ocultando un problema que seguirá creciendo.</a:t>
            </a:r>
          </a:p>
          <a:p>
            <a:pPr lvl="1"/>
            <a:r>
              <a:rPr sz="1150"/>
              <a:t>Lo correcto: corregir en origen, y usar la carga como red de seguridad y como detector.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3.2 · Un valor ausente no es un cero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Confundirlos es una de las formas más rápidas de falsear un indicador: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Tienda      Ventas     Objetivo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Valencia    142.000    130.000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Zaragoza     98.000    110.000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Bilbao         NULL    120.000   ← ¿no vendió nada, o no llegó el dato?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Si el nulo se trata como cero, la cadena aparece con un 30 % de desviación que no es real.</a:t>
            </a:r>
          </a:p>
          <a:p>
            <a:pPr/>
            <a:r>
              <a:rPr sz="1150"/>
              <a:t>Si se excluye la fila, el total baja pero el cumplimiento sube.</a:t>
            </a:r>
          </a:p>
          <a:p>
            <a:pPr/>
            <a:r>
              <a:rPr sz="1150"/>
              <a:t>Ambas son defendibles. Lo que no lo es: no saber cuál se ha aplicado.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Opciones conservadoras</a:t>
            </a:r>
          </a:p>
          <a:p>
            <a:pPr lvl="1"/>
            <a:r>
              <a:rPr sz="1100"/>
              <a:t>Dejarlo como nulo y HACERLO VISIBLE: «sin dato». Casi siempre la mejor opción en BI.</a:t>
            </a:r>
          </a:p>
          <a:p>
            <a:pPr lvl="1"/>
            <a:r>
              <a:rPr sz="1100"/>
              <a:t>Excluir el registro, si son pocos y no siguen ningún patrón.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Opciones que intervienen</a:t>
            </a:r>
          </a:p>
          <a:p>
            <a:pPr lvl="1"/>
            <a:r>
              <a:rPr sz="1100"/>
              <a:t>Imputar un valor: media, mediana, valor anterior. Útil en modelado, peligroso en reporting.</a:t>
            </a:r>
          </a:p>
          <a:p>
            <a:pPr lvl="1"/>
            <a:r>
              <a:rPr sz="1100"/>
              <a:t>Excluir la variable entera, si falta el 70 % de los valores.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Qué hacer con los nulos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Antes de decidir: preguntarse POR QUÉ falta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La ausencia puede contener información</a:t>
            </a:r>
          </a:p>
          <a:p>
            <a:pPr lvl="1"/>
            <a:r>
              <a:rPr sz="1150"/>
              <a:t>Si los tickets sin cliente son precisamente los de venta rápida en efectivo, la ausencia NO es aleatoria.</a:t>
            </a:r>
          </a:p>
          <a:p>
            <a:pPr lvl="1"/>
            <a:r>
              <a:rPr sz="1150"/>
              <a:t>Excluirlos sesgaría el análisis de tipos de venta.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Regla práctica</a:t>
            </a:r>
          </a:p>
          <a:p>
            <a:pPr lvl="1"/>
            <a:r>
              <a:rPr sz="1150"/>
              <a:t>Un nulo aleatorio se puede tratar. Un nulo con patrón hay que entenderlo primero.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3.3 · Los duplicados peligrosos no son los exactos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Tres registros, una persona: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id   nombre               email              teléfono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1    Manuel Rodríguez     manolo@correo.es   666112233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2    Manolo Rodriguez     manolo@correo.es   666 11 22 33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3    M. Rodríguez Pérez   manolo@correo.es   +34666112233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número de clientes está inflado. La venta media por cliente, deflactada.</a:t>
            </a:r>
          </a:p>
          <a:p>
            <a:pPr/>
            <a:r>
              <a:rPr sz="1150"/>
              <a:t>Y cualquier segmentación por frecuencia de compra es falsa: las compras de Manolo están repartidas entre tres identidades.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3.4 · La misma cosa escrita de cuatro formas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mismo concepto en fuentes distintas: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TPV              Tienda en línea     ERP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"BICICLETA"      "Bici"              "BIC"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"COMPONENTE"     "Componentes"       "CMP"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"ACCESORIO"      "Accesorios"        "ACC"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"ROPA"           "Textil"            "TEX"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Sin unificar, un cuadro de mando por familia mostrará ocho categorías donde hay cuatro.</a:t>
            </a:r>
          </a:p>
          <a:p>
            <a:pPr/>
            <a:r>
              <a:rPr sz="1150"/>
              <a:t>El proceso que lo arregla se llama CONFORMADO. Se ve en el capítulo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3.5 · Un número sin unidad no es un dato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Cuatro campos reales del caso, todos ambiguos: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peso_bicicleta:  9.4      ¿kilogramos o libras?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importe:         1250     ¿euros o céntimos?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tiempo:          180      ¿minutos u horas?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descuento:       0.15     ¿15 % o 0,15 %?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Muchos sistemas guardan importes como enteros en céntimos para evitar redondeos.</a:t>
            </a:r>
          </a:p>
          <a:p>
            <a:pPr/>
            <a:r>
              <a:rPr sz="1150"/>
              <a:t>Si la carga no lo convierte, el cuadro muestra ventas cien veces mayores…</a:t>
            </a:r>
          </a:p>
          <a:p>
            <a:pPr/>
            <a:r>
              <a:rPr sz="1150"/>
              <a:t>y nadie se da cuenta hasta que dirección pregunta por qué facturamos más que el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 descuento como 0.15 frente a 15:</a:t>
            </a:r>
          </a:p>
          <a:p>
            <a:pPr/>
            <a:r>
              <a:rPr sz="3000"/>
              <a:t>ambos son plausibles,</a:t>
            </a:r>
          </a:p>
          <a:p>
            <a:pPr/>
            <a:r>
              <a:rPr sz="3000"/>
              <a:t>ninguno da error,</a:t>
            </a:r>
          </a:p>
          <a:p>
            <a:pPr/>
            <a:r>
              <a:rPr sz="3000"/>
              <a:t>el resultado se desvía cien veces.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3.6 · Las fechas concentran los errores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Formato</a:t>
            </a:r>
          </a:p>
          <a:p>
            <a:pPr lvl="1"/>
            <a:r>
              <a:rPr sz="1150"/>
              <a:t>03/04/2026 es 3 de abril en España y 4 de marzo en Estados Unidos.</a:t>
            </a:r>
          </a:p>
          <a:p>
            <a:pPr/>
            <a:r>
              <a:rPr sz="1300" b="1"/>
              <a:t>Zona horaria</a:t>
            </a:r>
          </a:p>
          <a:p>
            <a:pPr lvl="1"/>
            <a:r>
              <a:rPr sz="1150"/>
              <a:t>Una venta web a las 00:30 puede caer en un día u otro. En un cierre mensual eso mueve cifras.</a:t>
            </a:r>
          </a:p>
          <a:p>
            <a:pPr/>
            <a:r>
              <a:rPr sz="1300" b="1"/>
              <a:t>Fecha de QUÉ</a:t>
            </a:r>
          </a:p>
          <a:p>
            <a:pPr lvl="1"/>
            <a:r>
              <a:rPr sz="1150"/>
              <a:t>Pedido, cobro, entrega y contabilización son cuatro fechas distintas.</a:t>
            </a:r>
          </a:p>
          <a:p>
            <a:pPr lvl="1"/>
            <a:r>
              <a:rPr sz="1150"/>
              <a:t>Y las cuatro son «la fecha de la venta» para alguien de la organización.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Cuando dos informes de ventas no cuadran,</a:t>
            </a:r>
          </a:p>
          <a:p>
            <a:pPr/>
            <a:r>
              <a:rPr sz="3000"/>
              <a:t>en la mitad de los casos</a:t>
            </a:r>
          </a:p>
          <a:p>
            <a:pPr/>
            <a:r>
              <a:rPr sz="3000"/>
              <a:t>el problema no está en el importe:</a:t>
            </a:r>
          </a:p>
          <a:p>
            <a:pPr/>
            <a:r>
              <a:rPr sz="3000"/>
              <a:t>está en la FECHA.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3.7 · El problema que no da ningún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Granularidades distintas. Cada fuente tiene su propio concepto de «una fila»: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TPV               una fila por LÍNEA de ticket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Tienda en línea   una fila por PEDIDO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ERP               una fila por ALBARÁN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Objetivos.xlsx    una fila por TIENDA y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Cruzar el TPV con los objetivos multiplica las filas: el objetivo mensual aparece sumado tantas veces como líneas de ticket haya.</a:t>
            </a:r>
          </a:p>
          <a:p>
            <a:pPr/>
            <a:r>
              <a:rPr sz="1150"/>
              <a:t>Resultado: un cumplimiento del 3 % y una reunión de urgencia innecesaria.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regla que evita ese desastre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Antes de cruzar dos conjuntos de datos</a:t>
            </a:r>
          </a:p>
          <a:p>
            <a:pPr lvl="1"/>
            <a:r>
              <a:rPr sz="1150"/>
              <a:t>Hay que saber decir EN VOZ ALTA qué es una fila en cada uno.</a:t>
            </a:r>
          </a:p>
          <a:p>
            <a:pPr lvl="1"/>
            <a:r>
              <a:rPr sz="1150"/>
              <a:t>Si no coinciden, hay que agregar uno de los dos hasta el grano común.</a:t>
            </a:r>
          </a:p>
          <a:p>
            <a:pPr lvl="1"/>
            <a:r>
              <a:rPr sz="1150"/>
              <a:t>Y hacerlo explícitamente, no por accidente.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dato malo en un sistema operativo</a:t>
            </a:r>
          </a:p>
          <a:p>
            <a:pPr/>
            <a:r>
              <a:rPr sz="3000"/>
              <a:t>afecta a una transacción.</a:t>
            </a:r>
          </a:p>
          <a:p>
            <a:pPr/>
            <a:r>
              <a:rPr sz="3000"/>
              <a:t>En un almacén analítico</a:t>
            </a:r>
          </a:p>
          <a:p>
            <a:pPr/>
            <a:r>
              <a:rPr sz="3000"/>
              <a:t>afecta a TODAS las decisiones.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4 · Frecuencias y tendencia central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El concepto de frecuencia</a:t>
            </a:r>
          </a:p>
          <a:p>
            <a:pPr/>
            <a:r>
              <a:rPr sz="900"/>
              <a:t>Absoluta, relativa y acumulada</a:t>
            </a:r>
          </a:p>
          <a:p>
            <a:pPr/>
            <a:r>
              <a:rPr sz="900"/>
              <a:t>Agrupar en intervalos</a:t>
            </a:r>
          </a:p>
          <a:p>
            <a:pPr/>
            <a:r>
              <a:rPr sz="900"/>
              <a:t>Los gráficos asociados</a:t>
            </a:r>
          </a:p>
          <a:p>
            <a:pPr/>
            <a:r>
              <a:rPr sz="900"/>
              <a:t>Moda, mediana y media</a:t>
            </a:r>
          </a:p>
          <a:p>
            <a:pPr/>
            <a:r>
              <a:rPr sz="900"/>
              <a:t>Cuándo la media engaña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4.1 · El concepto de frecuencia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Cuántos individuos comparten un mismo valor</a:t>
            </a:r>
          </a:p>
          <a:p>
            <a:pPr lvl="1"/>
            <a:r>
              <a:rPr sz="1150"/>
              <a:t>Para calcular una frecuencia hace falta poder CLASIFICAR.</a:t>
            </a:r>
          </a:p>
          <a:p>
            <a:pPr lvl="1"/>
            <a:r>
              <a:rPr sz="1150"/>
              <a:t>Y clasificar es justo lo que permite una escala nominal.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Como toda escala ordinal y cuantitativa es también nominal…</a:t>
            </a:r>
          </a:p>
          <a:p>
            <a:pPr lvl="1"/>
            <a:r>
              <a:rPr sz="1150"/>
              <a:t>A CUALQUIER variable se le pueden calcular frecuencias.</a:t>
            </a:r>
          </a:p>
          <a:p>
            <a:pPr lvl="1"/>
            <a:r>
              <a:rPr sz="1150"/>
              <a:t>Es la única técnica del curso de la que se puede decir eso.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4.2 · La tabla de frecuencias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Ventas de Rueda Libre por familia de producto en un mes.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Absoluta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Relativa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Bicicleta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310/2.700 × 100 = 11,5 %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Componente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1.240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45,9 %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Accesorio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33,0 %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Ropa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260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9,6 %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100 %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Frecuencia absoluta</a:t>
            </a:r>
          </a:p>
          <a:p>
            <a:pPr lvl="1"/>
            <a:r>
              <a:rPr sz="1100"/>
              <a:t>El número de veces que aparece cada categoría.</a:t>
            </a:r>
          </a:p>
          <a:p>
            <a:pPr lvl="1"/>
            <a:r>
              <a:rPr sz="1100"/>
              <a:t>Dice el tamaño.</a:t>
            </a:r>
          </a:p>
          <a:p>
            <a:pPr lvl="1"/>
            <a:r>
              <a:rPr sz="1100"/>
              <a:t>Imprescindible para saber si la cifra es relevante.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Frecuencia relativa</a:t>
            </a:r>
          </a:p>
          <a:p>
            <a:pPr lvl="1"/>
            <a:r>
              <a:rPr sz="1100"/>
              <a:t>La proporción sobre el total, en porcentaje.</a:t>
            </a:r>
          </a:p>
          <a:p>
            <a:pPr lvl="1"/>
            <a:r>
              <a:rPr sz="1100"/>
              <a:t>Dice el peso de cada categoría.</a:t>
            </a:r>
          </a:p>
          <a:p>
            <a:pPr lvl="1"/>
            <a:r>
              <a:rPr sz="1100"/>
              <a:t>Imprescindible para comparar dos períodos o dos tiendas de tamaño distinto.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Absoluta y relativa: cuándo cada una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4.3 · La frecuencia acumulada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Tiempo de reparación en el taller de Rueda Libre, agrupado en intervalos.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145"/>
                <a:gridCol w="1622145"/>
                <a:gridCol w="1622145"/>
                <a:gridCol w="1622145"/>
                <a:gridCol w="162214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Tiempo (h)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Abs.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Rel.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Ac. abs.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Ac. rel.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0 –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 – 8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730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73 %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 –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25 – 72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970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97 %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más de 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100 %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Lo que permite afirmar la acumulada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El 73 % de las reparaciones se resuelven en 8 horas o menos.</a:t>
            </a:r>
          </a:p>
          <a:p>
            <a:pPr lvl="1"/>
            <a:r>
              <a:rPr sz="1150"/>
              <a:t>270 reparaciones tardaron más de 8 horas.</a:t>
            </a:r>
          </a:p>
          <a:p>
            <a:pPr lvl="1"/>
            <a:r>
              <a:rPr sz="1150"/>
              <a:t>El 3 % tardó más de tres días.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Ese 3 % son las de Manolo</a:t>
            </a:r>
          </a:p>
          <a:p>
            <a:pPr lvl="1"/>
            <a:r>
              <a:rPr sz="1150"/>
              <a:t>Y volverán a aparecer en el capítulo 5, en el 11 y en el caso.</a:t>
            </a:r>
          </a:p>
          <a:p>
            <a:pPr lvl="1"/>
            <a:r>
              <a:rPr sz="1150"/>
              <a:t>Guarda esa cifra.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Pero sólo si la variable está al menos en escala ORDINAL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Con variables nominales no significa nada</a:t>
            </a:r>
          </a:p>
          <a:p>
            <a:pPr lvl="1"/>
            <a:r>
              <a:rPr sz="1150"/>
              <a:t>Sobre la tabla de familias, la acumulada del 45,9 % + 33,0 % NO permite decir que «el 78,9 % de las ventas son de familia inferior a accesorio».</a:t>
            </a:r>
          </a:p>
          <a:p>
            <a:pPr lvl="1"/>
            <a:r>
              <a:rPr sz="1150"/>
              <a:t>No hay orden.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salvedad importante</a:t>
            </a:r>
          </a:p>
          <a:p>
            <a:pPr lvl="1"/>
            <a:r>
              <a:rPr sz="1150"/>
              <a:t>Se le puede IMPONER un orden según otro criterio: típicamente la propia frecuencia.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Ordenando por frecuencia: eso sí tiene sentido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«Dos familias concentran el 79 % de las operaciones». Es el fundamento del análisis de Pareto y del cálculo de cuota de mercado.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Absoluta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Relativa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Acumulada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Componente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1.240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45,9 %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45,9 %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Accesorio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890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33,0 %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78,9 %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Bicicleta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11,5 %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90,4 %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Ropa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260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9,6 %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100 %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4.4 · Con variables continuas no se resume 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Contar cuántas veces aparece cada importe exacto: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Importe    Frecuencia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34,90            1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35,00            2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35,15            1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35,20            1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              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7693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Miles de filas con frecuencia 1 en casi todas. No se ha resumido nada.</a:t>
            </a:r>
          </a:p>
          <a:p>
            <a:pPr/>
            <a:r>
              <a:rPr sz="1150"/>
              <a:t>La solución es AGRUPAR EN INTERVALOS: que, como vimos, no es más que bajar la variable a una escala ordinal.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importe de venta, agrupado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Importe (€)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Frecuencia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Relativa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0 –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26 – 75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980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36 %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76 – 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201 – 800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340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13 %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más de 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2.700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100 %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Cambiar los cortes de los intervalos</a:t>
            </a:r>
          </a:p>
          <a:p>
            <a:pPr/>
            <a:r>
              <a:rPr sz="3000"/>
              <a:t>cambia la historia</a:t>
            </a:r>
          </a:p>
          <a:p>
            <a:pPr/>
            <a:r>
              <a:rPr sz="3000"/>
              <a:t>que cuenta el gráfico.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Diagrama de barras</a:t>
            </a:r>
          </a:p>
          <a:p>
            <a:pPr lvl="1"/>
            <a:r>
              <a:rPr sz="1100"/>
              <a:t>Una barra por categoría; la altura es la frecuencia.</a:t>
            </a:r>
          </a:p>
          <a:p>
            <a:pPr lvl="1"/>
            <a:r>
              <a:rPr sz="1100"/>
              <a:t>El eje X NO está graduado: las barras pueden ir en cualquier orden.</a:t>
            </a:r>
          </a:p>
          <a:p>
            <a:pPr lvl="1"/>
            <a:r>
              <a:rPr sz="1100"/>
              <a:t>Sirve para COMPARAR magnitudes.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Diagrama de sectores</a:t>
            </a:r>
          </a:p>
          <a:p>
            <a:pPr lvl="1"/>
            <a:r>
              <a:rPr sz="1100"/>
              <a:t>Cada sector es una categoría; el tamaño es proporcional a la frecuencia relativa.</a:t>
            </a:r>
          </a:p>
          <a:p>
            <a:pPr lvl="1"/>
            <a:r>
              <a:rPr sz="1100"/>
              <a:t>El círculo entero es el 100 %.</a:t>
            </a:r>
          </a:p>
          <a:p>
            <a:pPr lvl="1"/>
            <a:r>
              <a:rPr sz="1100"/>
              <a:t>Sirve para mostrar COMPOSICIÓN, y sólo con pocas categorías.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4.5 · Barras y sectores no son intercambiables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qué ante la duda, barras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El ojo humano compara LONGITUDES con precisión.</a:t>
            </a:r>
          </a:p>
          <a:p>
            <a:pPr lvl="1"/>
            <a:r>
              <a:rPr sz="1150"/>
              <a:t>Y compara ÁNGULOS con muy poca.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diagrama de sectores con más de cinco categorías es ilegible</a:t>
            </a:r>
          </a:p>
          <a:p>
            <a:pPr lvl="1"/>
            <a:r>
              <a:rPr sz="1150"/>
              <a:t>Y con efecto 3D distorsiona las áreas: la porción de delante siempre parece mayor de lo que 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Histograma</a:t>
            </a:r>
          </a:p>
          <a:p>
            <a:pPr lvl="1"/>
            <a:r>
              <a:rPr sz="1100"/>
              <a:t>Para variables continuas.</a:t>
            </a:r>
          </a:p>
          <a:p>
            <a:pPr lvl="1"/>
            <a:r>
              <a:rPr sz="1100"/>
              <a:t>El eje X SÍ está graduado: cada barra ocupa su posición real.</a:t>
            </a:r>
          </a:p>
          <a:p>
            <a:pPr lvl="1"/>
            <a:r>
              <a:rPr sz="1100"/>
              <a:t>La anchura de la barra es la del intervalo.</a:t>
            </a:r>
          </a:p>
          <a:p>
            <a:pPr lvl="1"/>
            <a:r>
              <a:rPr sz="1100"/>
              <a:t>El área es proporcional al número de individuos.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Polígono de frecuencias</a:t>
            </a:r>
          </a:p>
          <a:p>
            <a:pPr lvl="1"/>
            <a:r>
              <a:rPr sz="1100"/>
              <a:t>Une los puntos medios de las barras del histograma.</a:t>
            </a:r>
          </a:p>
          <a:p>
            <a:pPr lvl="1"/>
            <a:r>
              <a:rPr sz="1100"/>
              <a:t>Versión simplificada, más limpia.</a:t>
            </a:r>
          </a:p>
          <a:p>
            <a:pPr lvl="1"/>
            <a:r>
              <a:rPr sz="1100"/>
              <a:t>Muy útil para superponer dos grupos y comparar sus formas.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Histograma y polígono de frecuencias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4.6 · La moda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valor que más se repite</a:t>
            </a:r>
          </a:p>
          <a:p>
            <a:pPr lvl="1"/>
            <a:r>
              <a:rPr sz="1150"/>
              <a:t>En la tabla de familias: componente. En la de tiempos: el intervalo 0-4 h.</a:t>
            </a:r>
          </a:p>
          <a:p>
            <a:pPr lvl="1"/>
            <a:r>
              <a:rPr sz="1150"/>
              <a:t>En un diagrama de barras es la barra más alta; en un histograma, el pico.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Se puede calcular para CUALQUIER escala</a:t>
            </a:r>
          </a:p>
          <a:p>
            <a:pPr lvl="1"/>
            <a:r>
              <a:rPr sz="1150"/>
              <a:t>Es el único indicador de tendencia central disponible para variables nominales.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Puede no haber moda, o haber varias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No hay moda si todos los valores aparecen una sola vez.</a:t>
            </a:r>
          </a:p>
          <a:p>
            <a:pPr lvl="1"/>
            <a:r>
              <a:rPr sz="1150"/>
              <a:t>Hay varias si varios valores empatan.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aunque no haya empate exacto: la distribución MULTIMODAL</a:t>
            </a:r>
          </a:p>
          <a:p>
            <a:pPr lvl="1"/>
            <a:r>
              <a:rPr sz="1150"/>
              <a:t>Si el histograma presenta varios picos, es una señal importante.</a:t>
            </a:r>
          </a:p>
          <a:p>
            <a:pPr lvl="1"/>
            <a:r>
              <a:rPr sz="1150"/>
              <a:t>Casi siempre indica que hay DOS POBLACIONES DISTINTAS MEZCLADAS.</a:t>
            </a:r>
          </a:p>
          <a:p>
            <a:pPr lvl="1"/>
            <a:r>
              <a:rPr sz="1150"/>
              <a:t>En Rueda Libre: el importe de venta mezcla accesorios con bicicletas completas.</a:t>
            </a:r>
          </a:p>
          <a:p>
            <a:pPr lvl="1"/>
            <a:r>
              <a:rPr sz="1150"/>
              <a:t>La reacción correcta no es calcular indicadores: es SEPARAR.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4.7 · La mediana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valor que ocupa el centro del conjunto ordenado</a:t>
            </a:r>
          </a:p>
          <a:p>
            <a:pPr lvl="1"/>
            <a:r>
              <a:rPr sz="1150"/>
              <a:t>Divide a los individuos en dos mitades del mismo tamaño.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imagen del limbo</a:t>
            </a:r>
          </a:p>
          <a:p>
            <a:pPr lvl="1"/>
            <a:r>
              <a:rPr sz="1150"/>
              <a:t>Es la altura a la que se pondría el listón para que pasara justo la mitad de la gente.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Cómo se calcula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Se ordenan los datos. Después: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699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5  7  8  11  14  19  40           →  n impar  →  mediana = 11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5  7  8  11  14  19  40  55       →  n par    →  (11+14)/2 = 12,5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58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Sobre una tabla de frecuencias: el primer valor o intervalo cuya acumulada relativa ALCANZA O SUPERA el 50 %.</a:t>
            </a:r>
          </a:p>
          <a:p>
            <a:pPr/>
            <a:r>
              <a:rPr sz="1150"/>
              <a:t>En el histograma: el valor que divide el ÁREA en dos partes iguales.</a:t>
            </a:r>
          </a:p>
          <a:p>
            <a:pPr/>
            <a:r>
              <a:rPr sz="1150"/>
              <a:t>Requiere ordenar → ordinales y cuantitativas sí; nominales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4.8 · La media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indicador más usado y el peor entendido</a:t>
            </a:r>
          </a:p>
          <a:p>
            <a:pPr lvl="1"/>
            <a:r>
              <a:rPr sz="1150"/>
              <a:t>Suma de todos los valores dividida entre el número de individuos.</a:t>
            </a:r>
          </a:p>
          <a:p>
            <a:pPr lvl="1"/>
            <a:r>
              <a:rPr sz="1150"/>
              <a:t>Como requiere SUMAR, sólo tiene sentido en escalas cuantitativas.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interpretación correcta, que casi nunca se enseña</a:t>
            </a:r>
          </a:p>
          <a:p>
            <a:pPr lvl="1"/>
            <a:r>
              <a:rPr sz="1150"/>
              <a:t>La media representa lo que aportaría cada individuo al total SI TODOS APORTARAN EXACTAMENTE LO MISMO.</a:t>
            </a:r>
          </a:p>
          <a:p>
            <a:pPr lvl="1"/>
            <a:r>
              <a:rPr sz="1150"/>
              <a:t>NO dice que los individuos estén en torno a ese valor.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Eso es lo que el cerebro humano</a:t>
            </a:r>
          </a:p>
          <a:p>
            <a:pPr/>
            <a:r>
              <a:rPr sz="3000"/>
              <a:t>asume automáticamente.</a:t>
            </a:r>
          </a:p>
          <a:p>
            <a:pPr/>
            <a:r>
              <a:rPr sz="3000"/>
              <a:t>Y es la fuente</a:t>
            </a:r>
          </a:p>
          <a:p>
            <a:pPr/>
            <a:r>
              <a:rPr sz="3000"/>
              <a:t>de casi todos los errores.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4.9 · Villa Arriba y Villa 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Dos pueblos de diez habitantes. Gramos de CO₂ que emiten sus vehículos al día: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4462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VILLA ARRIBA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5  5  5  10  10  10  10  15  15  15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Media = 10        Mediana = 10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VILLA ABAJO   (nueve híbridos… y el tractor de Manolo)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5  5  5  5  5  5  5  5  5  1000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Media = 104,5     Mediana =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es exactamente al revés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Y es exactamente al revés: nueve de sus diez vecinos emiten la mitad que el vecino MENOS contaminante de Villa Arriba.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media no miente</a:t>
            </a:r>
          </a:p>
          <a:p>
            <a:pPr lvl="1"/>
            <a:r>
              <a:rPr sz="1150"/>
              <a:t>Es cierto que repartiendo las emisiones a partes iguales tocarían a 104,5 por cabeza.</a:t>
            </a:r>
          </a:p>
          <a:p>
            <a:pPr lvl="1"/>
            <a:r>
              <a:rPr sz="1150"/>
              <a:t>Pero NO RESUME BIEN AL COLECTIVO, que era el objetivo.</a:t>
            </a:r>
          </a:p>
          <a:p>
            <a:pPr lvl="1"/>
            <a:r>
              <a:rPr sz="1150"/>
              <a:t>La mediana, 5, describe mucho mejor a esa población.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versión de negocio del mismo fenómeno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Tiempo de resolución de reparaciones en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Media          3,2 días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Mediana        1,1 días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Percentil 90   8,7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Sólo la media: imagen falsa por arriba. La mayoría recoge al día siguiente.</a:t>
            </a:r>
          </a:p>
          <a:p>
            <a:pPr/>
            <a:r>
              <a:rPr sz="1150"/>
              <a:t>Sólo la mediana: imagen falsa por abajo. Uno de cada diez espera más de ocho días, y ésos son los que escriben reseñas.</a:t>
            </a:r>
          </a:p>
          <a:p>
            <a:pPr/>
            <a:r>
              <a:rPr sz="1150"/>
              <a:t>Los TRES juntos describen el servicio. Ninguno lo hace por separado.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La mediana</a:t>
            </a:r>
          </a:p>
          <a:p>
            <a:pPr lvl="1"/>
            <a:r>
              <a:rPr sz="1100"/>
              <a:t>Es ROBUSTA: no le afectan los valores extremos.</a:t>
            </a:r>
          </a:p>
          <a:p>
            <a:pPr lvl="1"/>
            <a:r>
              <a:rPr sz="1100"/>
              <a:t>No es SUFICIENTE: sólo mira el centro e ignora el resto de la información.</a:t>
            </a:r>
          </a:p>
          <a:p>
            <a:pPr lvl="1"/>
            <a:r>
              <a:rPr sz="1100"/>
              <a:t>Ignora casi toda la información, y por eso está protegida.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La media</a:t>
            </a:r>
          </a:p>
          <a:p>
            <a:pPr lvl="1"/>
            <a:r>
              <a:rPr sz="1100"/>
              <a:t>Es SUFICIENTE: usa todos los valores del conjunto.</a:t>
            </a:r>
          </a:p>
          <a:p>
            <a:pPr lvl="1"/>
            <a:r>
              <a:rPr sz="1100"/>
              <a:t>No es ROBUSTA: precisamente por usarlos todos, un solo valor extremo la desplaza.</a:t>
            </a:r>
          </a:p>
          <a:p>
            <a:pPr lvl="1"/>
            <a:r>
              <a:rPr sz="1100"/>
              <a:t>Aprovecha toda la información, y por eso es sensible.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4.10 · Robusto y suficiente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media siempre quiere estar</a:t>
            </a:r>
          </a:p>
          <a:p>
            <a:pPr/>
            <a:r>
              <a:rPr sz="3000"/>
              <a:t>junto a la mediana.</a:t>
            </a:r>
          </a:p>
          <a:p>
            <a:pPr/>
            <a:r>
              <a:rPr sz="3000"/>
              <a:t>Manolo tira de ella.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4.11 · Cómo elegir entre media y mediana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criterio NO es «si hay valores atípicos»</a:t>
            </a:r>
          </a:p>
          <a:p>
            <a:pPr lvl="1"/>
            <a:r>
              <a:rPr sz="1150"/>
              <a:t>El criterio es la SIMETRÍA de la distribución.</a:t>
            </a:r>
          </a:p>
          <a:p>
            <a:pPr lvl="1"/>
            <a:r>
              <a:rPr sz="1150"/>
              <a:t>Y se mira en el histograma o en el polígono de frecuencias.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Simétrica</a:t>
            </a:r>
          </a:p>
          <a:p>
            <a:pPr lvl="1"/>
            <a:r>
              <a:rPr sz="1150"/>
              <a:t>Dos mitades aproximadamente especulares → media y mediana parecidas → se puede usar la media.</a:t>
            </a:r>
          </a:p>
          <a:p>
            <a:pPr/>
            <a:r>
              <a:rPr sz="1300" b="1"/>
              <a:t>Asimétrica</a:t>
            </a:r>
          </a:p>
          <a:p>
            <a:pPr lvl="1"/>
            <a:r>
              <a:rPr sz="1150"/>
              <a:t>Media y mediana se separan → la mediana representa mejor al colectivo.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¿Y cuánto es «estar cerca»?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Es un criterio subjetivo y depende del contexto.</a:t>
            </a:r>
          </a:p>
          <a:p>
            <a:pPr lvl="1"/>
            <a:r>
              <a:rPr sz="1150"/>
              <a:t>Dos grados son irrelevantes para decidir si coges abrigo, y enormes para estudiar el deshielo polar.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Orientación inicial, no regla</a:t>
            </a:r>
          </a:p>
          <a:p>
            <a:pPr lvl="1"/>
            <a:r>
              <a:rPr sz="1150"/>
              <a:t>Muchos analistas consideran que si la diferencia no supera el 10-15 % del valor de la mediana, están suficientemente cerca.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por encima de cualquier regla</a:t>
            </a:r>
          </a:p>
          <a:p>
            <a:pPr lvl="1"/>
            <a:r>
              <a:rPr sz="1150"/>
              <a:t>MIRAR EL HISTOGRAMA PRIMERO. Resuelve en dos segundos lo que la comparación numérica sugiere en cinco minutos.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5 · Dispersión, posición y forma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Por qué una media sola no dice nada</a:t>
            </a:r>
          </a:p>
          <a:p>
            <a:pPr/>
            <a:r>
              <a:rPr sz="900"/>
              <a:t>Varianza y desviación típica</a:t>
            </a:r>
          </a:p>
          <a:p>
            <a:pPr/>
            <a:r>
              <a:rPr sz="900"/>
              <a:t>Cómo se interpreta: Chebyshev</a:t>
            </a:r>
          </a:p>
          <a:p>
            <a:pPr/>
            <a:r>
              <a:rPr sz="900"/>
              <a:t>Cuartiles y percentiles</a:t>
            </a:r>
          </a:p>
          <a:p>
            <a:pPr/>
            <a:r>
              <a:rPr sz="900"/>
              <a:t>Rango intercuartílico</a:t>
            </a:r>
          </a:p>
          <a:p>
            <a:pPr/>
            <a:r>
              <a:rPr sz="900"/>
              <a:t>Simetría, atípicos y caja y bigotes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NUNCA se ofrece</a:t>
            </a:r>
          </a:p>
          <a:p>
            <a:pPr/>
            <a:r>
              <a:rPr sz="3000"/>
              <a:t>un indicador de tendencia central</a:t>
            </a:r>
          </a:p>
          <a:p>
            <a:pPr/>
            <a:r>
              <a:rPr sz="3000"/>
              <a:t>sin su indicador de dispersión.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5.1 · Cuatro casas, cuatro habitantes, la misma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Alturas en centímetros: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1    160  165  175  180      Media 170    Mediana 170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2    160  160  180  180      Media 170    Mediana 170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3    170  170  170  170      Media 170    Mediana 170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4    155  170  170  185      Media 170    Mediana 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Cuatro casas completamente distintas.</a:t>
            </a:r>
          </a:p>
          <a:p>
            <a:pPr/>
            <a:r>
              <a:rPr sz="1150"/>
              <a:t>Indicadores de tendencia central idénticos.</a:t>
            </a:r>
          </a:p>
          <a:p>
            <a:pPr/>
            <a:r>
              <a:rPr sz="1150"/>
              <a:t>Con esos dos números no hay forma de distinguirlas.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versión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Dos empresas con la misma media de 100: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699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Empresa A     98  100  101   99  102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Empresa B     20   50  100  150  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58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 A es predecible y se puede planificar. La B, no.</a:t>
            </a:r>
          </a:p>
          <a:p>
            <a:pPr/>
            <a:r>
              <a:rPr sz="1150"/>
              <a:t>Cualquier decisión —dimensionar un almacén, fijar un objetivo, contratar— sería distinta en cada caso.</a:t>
            </a:r>
          </a:p>
          <a:p>
            <a:pPr/>
            <a:r>
              <a:rPr sz="1150"/>
              <a:t>Hace falta un segundo número: cuánto se alejan los datos del centro.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5.2 · Primer intento: la puntuación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diferencia de cada individuo respecto a la media: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1    -10   -5    5   10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2    -10  -10   10   10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3      0    0    0    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4    -15    0    0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Y si ahora promediamos esas diferencias… da CERO en las cuatro casas.</a:t>
            </a:r>
          </a:p>
          <a:p>
            <a:pPr/>
            <a:r>
              <a:rPr sz="1150"/>
              <a:t>Los valores por encima de la media anulan exactamente a los que están por debajo. Siempre. Por construcción.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Hay que eliminar el signo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No interesa si se desvían por arriba o por abajo, sino CUÁNTO.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Dos operaciones habituales para ignorar un signo</a:t>
            </a:r>
          </a:p>
          <a:p>
            <a:pPr lvl="1"/>
            <a:r>
              <a:rPr sz="1150"/>
              <a:t>El valor absoluto.</a:t>
            </a:r>
          </a:p>
          <a:p>
            <a:pPr lvl="1"/>
            <a:r>
              <a:rPr sz="1150"/>
              <a:t>El cuadrado.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Vamos a probar las dos.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Tercer intento: la desviación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Promediando los VALORES ABSOLUTOS de las diferencias: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1    (10+5+5+10)/4   = 7,5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2    (10+10+10+10)/4 = 10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3    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4    (15+0+0+15)/4   = 7,5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Mejor, pero insuficiente: las casas 1 y 4 obtienen el MISMO valor teniendo distribuciones claramente distintas.</a:t>
            </a:r>
          </a:p>
          <a:p>
            <a:pPr/>
            <a:r>
              <a:rPr sz="1150"/>
              <a:t>Por eso hoy apenas se usa.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Cuarto intento: la varianza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Promediando los CUADRADOS de las diferencias: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1    (100+25+25+100)/4   = 62,5  cm²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2    (100+100+100+100)/4 = 100   cm²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3    0                          cm²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4    (225+0+0+225)/4     = 112,5 cm²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Ahora sí se distinguen las cuatro. Elevar al cuadrado penaliza más las desviaciones grandes que las pequeñas, que es justo lo que se quería.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62,5 cm².</a:t>
            </a:r>
          </a:p>
          <a:p>
            <a:pPr/>
            <a:r>
              <a:rPr sz="3000"/>
              <a:t>Una SUPERFICIE,</a:t>
            </a:r>
          </a:p>
          <a:p>
            <a:pPr/>
            <a:r>
              <a:rPr sz="3000"/>
              <a:t>midiendo alturas.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problema de la varianza es su interpretación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Al elevar al cuadrado, las unidades también se elevan al cuadrado.</a:t>
            </a:r>
          </a:p>
          <a:p>
            <a:pPr lvl="1"/>
            <a:r>
              <a:rPr sz="1150"/>
              <a:t>Y con centímetros cuadrados todavía nos suena a algo… aunque no signifique nada aquí.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 importes es peor</a:t>
            </a:r>
          </a:p>
          <a:p>
            <a:pPr lvl="1"/>
            <a:r>
              <a:rPr sz="1150"/>
              <a:t>¿Alguien ha visto alguna vez un EURO CUADRADO?</a:t>
            </a:r>
          </a:p>
          <a:p>
            <a:pPr lvl="1"/>
            <a:r>
              <a:rPr sz="1150"/>
              <a:t>¿Cómo es? ¿Como una pelota? ¿Como un bloque de Minecraft?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Quinto y definitivo: la desviación típica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raíz cuadrada de la varianza devuelve el resultado a las unidades originales: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1    √62,5  =  7,9 cm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2    √100   = 10,0 cm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3    √0     =  0,0 cm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Casa 4    √112,5 = 10,6 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Ahora el número está en centímetros y se puede interpretar.</a:t>
            </a:r>
          </a:p>
          <a:p>
            <a:pPr/>
            <a:r>
              <a:rPr sz="1150"/>
              <a:t>Cuanto mayor, más dispersos están los datos. Cuanto menor, más concentrados.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5.3 · Cómo se interpreta: la desigualdad de Chebyshev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Vale sea cual sea la distribución. Al menos 1 − 1/k² de los individuos están a menos de k desviaciones típicas.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Intervalo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Contiene AL MENOS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1σ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— (no garantiza nada)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1,41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1,41σ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50 %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2σ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3σ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89 %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la regla empírica, que es otra cosa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Sólo si la distribución es APROXIMADAMENTE NORMAL. Es decir: una campana simétrica.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Intervalo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Contiene aproximadamente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1σ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68 %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2σ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95 %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3σ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99,7 %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«Media ± 1σ contiene al menos el 50 %»</a:t>
            </a:r>
          </a:p>
          <a:p>
            <a:pPr/>
            <a:r>
              <a:rPr sz="3000"/>
              <a:t>es FALSO.</a:t>
            </a:r>
          </a:p>
          <a:p>
            <a:pPr/>
            <a:r>
              <a:rPr sz="3000"/>
              <a:t>Chebyshev para k = 1</a:t>
            </a:r>
          </a:p>
          <a:p>
            <a:pPr/>
            <a:r>
              <a:rPr sz="3000"/>
              <a:t>no garantiza nada.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prueba está en nuestro propio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Casa 2, con media 170 y desviación típica 10: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Datos:       160  160  180  180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Intervalo:   [160, 180]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Contiene:    el 100 % de los individuos… no el 50 %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 afirmación SEGURA, la que siempre se cumple, es la de ±2σ y el 75 %.</a:t>
            </a:r>
          </a:p>
          <a:p>
            <a:pPr/>
            <a:r>
              <a:rPr sz="1150"/>
              <a:t>Y es más útil, porque conecta con la detección de atípicos.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Aplicado a Rueda Libre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Ticket medio de una tienda: 128 € con desviación típica de 45 €.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699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128 - 2×45 = 38 €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128 + 2×45 = 218 €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58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«Al menos TRES DE CADA CUATRO tickets están entre 38 € y 218 €.»</a:t>
            </a:r>
          </a:p>
          <a:p>
            <a:pPr/>
            <a:r>
              <a:rPr sz="1150"/>
              <a:t>Es una frase que un comité de dirección entiende.</a:t>
            </a:r>
          </a:p>
          <a:p>
            <a:pPr/>
            <a:r>
              <a:rPr sz="1150"/>
              <a:t>Y es cierta sin necesidad de suponer nada sobre la distribución.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5.4 · El rango: el indicador más simple y menos fiable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Máximo menos mínimo</a:t>
            </a:r>
          </a:p>
          <a:p>
            <a:pPr lvl="1"/>
            <a:r>
              <a:rPr sz="1150"/>
              <a:t>Casa 1: 180 − 160 = 20 cm.  Casa 4: 185 − 155 = 30 cm.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Su problema</a:t>
            </a:r>
          </a:p>
          <a:p>
            <a:pPr lvl="1"/>
            <a:r>
              <a:rPr sz="1150"/>
              <a:t>Depende exclusivamente de los dos valores más extremos: exactamente los más propensos a ser errores.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Para qué sirve entonces</a:t>
            </a:r>
          </a:p>
          <a:p>
            <a:pPr lvl="1"/>
            <a:r>
              <a:rPr sz="1150"/>
              <a:t>Como comprobación rápida de plausibilidad. Si el rango de un importe va de −300 € a 2.000.000 €, hay un problema de calidad.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5.5 · Las medidas de posición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La mediana ya era una: el valor que deja por debajo al 50 %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CUARTILES · cuatro partes</a:t>
            </a:r>
          </a:p>
          <a:p>
            <a:pPr lvl="1"/>
            <a:r>
              <a:rPr sz="1150"/>
              <a:t>Q1 deja por debajo al 25 % · Q2 es la MEDIANA · Q3 deja por debajo al 75 %.</a:t>
            </a:r>
          </a:p>
          <a:p>
            <a:pPr/>
            <a:r>
              <a:rPr sz="1300" b="1"/>
              <a:t>DECILES · diez partes</a:t>
            </a:r>
          </a:p>
          <a:p>
            <a:pPr lvl="1"/>
            <a:r>
              <a:rPr sz="1150"/>
              <a:t>D1 deja por debajo al 10 %, D9 al 90 %.</a:t>
            </a:r>
          </a:p>
          <a:p>
            <a:pPr/>
            <a:r>
              <a:rPr sz="1300" b="1"/>
              <a:t>PERCENTILES · cien partes</a:t>
            </a:r>
          </a:p>
          <a:p>
            <a:pPr lvl="1"/>
            <a:r>
              <a:rPr sz="1150"/>
              <a:t>P25 = Q1 · P50 = mediana · P90 · P95 · P99.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Todos coinciden en los puntos comunes: D5 = P50 = Q2 = mediana.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qué le importan al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Los percentiles altos son el lenguaje de los compromisos de servicio: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P90 del tiempo de reparación = 8,7 días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→ «9 de cada 10 clientes recogen antes de 9 días»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→ Es el número que se puede comprometer en un acuerdo de servicio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P95 de concurrencia en la web = 340 usuarios simultáneos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→ Es el número con el que se dimensiona el servidor. No la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media sirve para entender el conjunto.</a:t>
            </a:r>
          </a:p>
          <a:p>
            <a:pPr/>
            <a:r>
              <a:rPr sz="3000"/>
              <a:t>Los percentiles sirven</a:t>
            </a:r>
          </a:p>
          <a:p>
            <a:pPr/>
            <a:r>
              <a:rPr sz="3000"/>
              <a:t>para comprometerse con alguien.</a:t>
            </a:r>
          </a:p>
          <a:p>
            <a:pPr/>
            <a:r>
              <a:rPr sz="3000"/>
              <a:t>Ningún cliente vive en la media.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5.6 · El rango intercuartílico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Cuando se usa la mediana, la desviación típica ya no vale</a:t>
            </a:r>
          </a:p>
          <a:p>
            <a:pPr lvl="1"/>
            <a:r>
              <a:rPr sz="1150"/>
              <a:t>Porque se calcula a partir de la media, que no era representativa.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IQR = Q3 − Q1</a:t>
            </a:r>
          </a:p>
          <a:p>
            <a:pPr lvl="1"/>
            <a:r>
              <a:rPr sz="1150"/>
              <a:t>Como Q1 deja por debajo al 25 % y Q3 al 75 %, el IQR mide la amplitud del intervalo que contiene al 50 % CENTRAL.</a:t>
            </a:r>
          </a:p>
          <a:p>
            <a:pPr lvl="1"/>
            <a:r>
              <a:rPr sz="1150"/>
              <a:t>Los más representativos del colectivo, los que rodean a la mediana.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Y ese 50 % es el mismo del que hablaba Chebyshev con ±1,41σ.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Cada tendencia central con su dispersión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En Rueda Libre: mediana 1,1 días, Q1 = 0,6 y Q3 = 3,4 → IQR = 2,8. «La mitad de las reparaciones se resuelven entre medio día y tres y medio.»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Tendencia central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Dispersión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Interpretación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Desviación típica (σ)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± 2σ contiene al menos el 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Rango intercuartílico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 Q1 a Q3 está el 50 % central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Positiva · cola a la derecha</a:t>
            </a:r>
          </a:p>
          <a:p>
            <a:pPr lvl="1"/>
            <a:r>
              <a:rPr sz="1100"/>
              <a:t>La mayoría de valores abajo; unos pocos muy altos estiran la cola.</a:t>
            </a:r>
          </a:p>
          <a:p>
            <a:pPr lvl="1"/>
            <a:r>
              <a:rPr sz="1100"/>
              <a:t>media &gt; mediana &gt; moda</a:t>
            </a:r>
          </a:p>
          <a:p>
            <a:pPr lvl="1"/>
            <a:r>
              <a:rPr sz="1100"/>
              <a:t>Es la forma MÁS FRECUENTE en negocio: importes, salarios, tiempos de espera, valor de cliente.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Negativa · cola a la izquierda</a:t>
            </a:r>
          </a:p>
          <a:p>
            <a:pPr lvl="1"/>
            <a:r>
              <a:rPr sz="1100"/>
              <a:t>La mayoría arriba; unos pocos muy bajos estiran la cola.</a:t>
            </a:r>
          </a:p>
          <a:p>
            <a:pPr lvl="1"/>
            <a:r>
              <a:rPr sz="1100"/>
              <a:t>media &lt; mediana &lt; moda</a:t>
            </a:r>
          </a:p>
          <a:p>
            <a:pPr lvl="1"/>
            <a:r>
              <a:rPr sz="1100"/>
              <a:t>Menos frecuente. Ejemplo clásico: la edad de jubilación.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5.7 · Asimetría positiva y negativa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 la media es mayor que la mediana,</a:t>
            </a:r>
          </a:p>
          <a:p>
            <a:pPr/>
            <a:r>
              <a:rPr sz="3000"/>
              <a:t>hay asimetría positiva</a:t>
            </a:r>
          </a:p>
          <a:p>
            <a:pPr/>
            <a:r>
              <a:rPr sz="3000"/>
              <a:t>y unos pocos valores altos</a:t>
            </a:r>
          </a:p>
          <a:p>
            <a:pPr/>
            <a:r>
              <a:rPr sz="3000"/>
              <a:t>están tirando de ella.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Manolo y Gertru, otra vez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La media siempre quiere estar junto a la mediana. Los valores extremos tiran de ella.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Manolo</a:t>
            </a:r>
          </a:p>
          <a:p>
            <a:pPr lvl="1"/>
            <a:r>
              <a:rPr sz="1150"/>
              <a:t>Con su tractor, arrastra la media hacia arriba.</a:t>
            </a:r>
          </a:p>
          <a:p>
            <a:pPr/>
            <a:r>
              <a:rPr sz="1300" b="1"/>
              <a:t>Gertru</a:t>
            </a:r>
          </a:p>
          <a:p>
            <a:pPr lvl="1"/>
            <a:r>
              <a:rPr sz="1150"/>
              <a:t>Consume CO₂ en lugar de producirlo: tira hacia abajo y la devuelve a su sitio.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Los dos son atípicos. Ninguno de los dos es un error.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5.8 · Cómo se detecta un valor atípico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criterio más extendido usa el rango intercuartílico: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Límite inferior razonable  =  Q1 - 1,5 × IQR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Límite superior razonable  =  Q3 + 1,5 × IQR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Fuera de esos límites            → ATÍPICO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Más allá de Q1/Q3 ± 3 × IQR      → ATÍPICO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factor 1,5 es una convención, no una ley. En algunos contextos se usa 2 o más, según la naturaleza de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¿Este atípico es un ERROR DE DATO</a:t>
            </a:r>
          </a:p>
          <a:p>
            <a:pPr/>
            <a:r>
              <a:rPr sz="3000"/>
              <a:t>o es la REALIDAD?</a:t>
            </a:r>
          </a:p>
          <a:p>
            <a:pPr/>
            <a:r>
              <a:rPr sz="3000"/>
              <a:t>Ninguna fórmula lo responde.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la reacción es opuesta en cada caso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Es un ERROR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Es REAL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Importe de 1.250.000 € por céntimos mal convertidos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Una venta corporativa de 40 bicicletas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Reparación de −3 días por fechas invertidas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La restauración de Manolo, 21 días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Cliente con 400 años por fecha 01/01/1900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cliente que compra doce veces al 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 corrige o se elimina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 conserva, y a menudo se estudia aparte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Eliminar atípicos porque «ensucian el gráfico»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Es una de las peores prácticas del análisis de datos</a:t>
            </a:r>
          </a:p>
          <a:p>
            <a:pPr lvl="1"/>
            <a:r>
              <a:rPr sz="1150"/>
              <a:t>Con frecuencia el atípico es lo más interesante del conjunto: el fraude, el cliente más rentable, el fallo de proceso, la oportunidad.</a:t>
            </a:r>
          </a:p>
          <a:p>
            <a:pPr lvl="1"/>
            <a:r>
              <a:rPr sz="1150"/>
              <a:t>En detección de fraude y mantenimiento predictivo, el atípico ES el objeto de estudio.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Manolo, con sus restauraciones de tres semanas</a:t>
            </a:r>
          </a:p>
          <a:p>
            <a:pPr lvl="1"/>
            <a:r>
              <a:rPr sz="1150"/>
              <a:t>No es un error: es una línea de negocio distinta, con márgenes y clientes distintos.</a:t>
            </a:r>
          </a:p>
          <a:p>
            <a:pPr lvl="1"/>
            <a:r>
              <a:rPr sz="1150"/>
              <a:t>La decisión correcta no es borrarlo. Es SEGMENTAR.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5.9 · El diagrama de caja y bigotes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Con la mediana, los cuartiles, el IQR y los atípicos ya se puede leer: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mín. razonable   Q1  mediana  Q3      máx. razonable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├──────────┏━━━━━━┳━━━━━━┓──────────┤      ○        ·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          ┗━━━━━━┻━━━━━━┛                atípico  extremo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│◄────────►│◄───────────►│◄────────►│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          hasta 1,5×IQR    IQR      hasta 1,5×IQR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Cómo se lee, en este orden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1 · LA CAJA va de Q1 a Q3: el 50 % central. Su anchura es el IQR, la dispersión.</a:t>
            </a:r>
          </a:p>
          <a:p>
            <a:pPr lvl="1"/>
            <a:r>
              <a:rPr sz="1150"/>
              <a:t>2 · LA LÍNEA INTERIOR es la mediana. Si no está centrada, hay asimetría.</a:t>
            </a:r>
          </a:p>
          <a:p>
            <a:pPr lvl="1"/>
            <a:r>
              <a:rPr sz="1150"/>
              <a:t>3 · LOS BIGOTES llegan al último dato dentro de 1,5 × IQR. Son el mínimo y el máximo RAZONABLES, no los reales.</a:t>
            </a:r>
          </a:p>
          <a:p>
            <a:pPr lvl="1"/>
            <a:r>
              <a:rPr sz="1150"/>
              <a:t>4 · LOS PUNTOS SUELTOS son los atípicos, uno a uno.</a:t>
            </a:r>
          </a:p>
          <a:p>
            <a:pPr lvl="1"/>
            <a:r>
              <a:rPr sz="1150"/>
              <a:t>5 · Si la caja entera está desplazada, la distribución es asimétrica.</a:t>
            </a:r>
          </a:p>
          <a:p>
            <a:pPr lvl="1"/>
            <a:r>
              <a:rPr sz="1150"/>
              <a:t>6 · A veces se marca la media con una ✕. Separada de la mediana = asimetría.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Qué muestra en un solo dibujo</a:t>
            </a:r>
          </a:p>
          <a:p>
            <a:pPr lvl="1"/>
            <a:r>
              <a:rPr sz="1100"/>
              <a:t>Dónde está el centro.</a:t>
            </a:r>
          </a:p>
          <a:p>
            <a:pPr lvl="1"/>
            <a:r>
              <a:rPr sz="1100"/>
              <a:t>Cuánta dispersión hay.</a:t>
            </a:r>
          </a:p>
          <a:p>
            <a:pPr lvl="1"/>
            <a:r>
              <a:rPr sz="1100"/>
              <a:t>Si la distribución es simétrica.</a:t>
            </a:r>
          </a:p>
          <a:p>
            <a:pPr lvl="1"/>
            <a:r>
              <a:rPr sz="1100"/>
              <a:t>Si hay Manolos sueltos por ahí.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Y su mayor virtud: comparar</a:t>
            </a:r>
          </a:p>
          <a:p>
            <a:pPr lvl="1"/>
            <a:r>
              <a:rPr sz="1100"/>
              <a:t>Doce cajas, una por tienda, en el mismo eje.</a:t>
            </a:r>
          </a:p>
          <a:p>
            <a:pPr lvl="1"/>
            <a:r>
              <a:rPr sz="1100"/>
              <a:t>En un segundo se ve qué tienda tiene el ticket más alto, cuál el más irregular y cuál acumula operaciones anómalas.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La navaja suiza del análisis cuantitativo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5.10 · El gráfico de violín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Es un boxplot con rayos X</a:t>
            </a:r>
          </a:p>
          <a:p>
            <a:pPr lvl="1"/>
            <a:r>
              <a:rPr sz="1150"/>
              <a:t>Se le añade a ambos lados la forma de la distribución: un histograma suavizado. De ahí su silueta.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aporta y el boxplot no puede</a:t>
            </a:r>
          </a:p>
          <a:p>
            <a:pPr lvl="1"/>
            <a:r>
              <a:rPr sz="1150"/>
              <a:t>Si la distribución es MULTIMODAL.</a:t>
            </a:r>
          </a:p>
          <a:p>
            <a:pPr lvl="1"/>
            <a:r>
              <a:rPr sz="1150"/>
              <a:t>Dos distribuciones con idénticos cuartiles pueden tener una sola concentración o dos grupos separados.</a:t>
            </a:r>
          </a:p>
          <a:p>
            <a:pPr lvl="1"/>
            <a:r>
              <a:rPr sz="1150"/>
              <a:t>El boxplot las dibuja igual. El violín las distingue de un vistazo.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6 · Sistemas operacionales y analíticos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Sistemas OLTP y normalización</a:t>
            </a:r>
          </a:p>
          <a:p>
            <a:pPr/>
            <a:r>
              <a:rPr sz="900"/>
              <a:t>OLTP frente a OLAP</a:t>
            </a:r>
          </a:p>
          <a:p>
            <a:pPr/>
            <a:r>
              <a:rPr sz="900"/>
              <a:t>El almacén de datos</a:t>
            </a:r>
          </a:p>
          <a:p>
            <a:pPr/>
            <a:r>
              <a:rPr sz="900"/>
              <a:t>Características y ventajas</a:t>
            </a:r>
          </a:p>
          <a:p>
            <a:pPr/>
            <a:r>
              <a:rPr sz="900"/>
              <a:t>Datamarts y enfoques</a:t>
            </a:r>
          </a:p>
          <a:p>
            <a:pPr/>
            <a:r>
              <a:rPr sz="900"/>
              <a:t>Capas, historia y dimensiones cambiantes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Hasta aquí, qué hacer con los datos. Ahora, de dónde salen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Y por qué hace falta moverlos de sitio antes de analizarlos.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Este capítulo responde a tres preguntas</a:t>
            </a:r>
          </a:p>
          <a:p>
            <a:pPr lvl="1"/>
            <a:r>
              <a:rPr sz="1150"/>
              <a:t>Por qué no se analiza sobre el sistema de producción.</a:t>
            </a:r>
          </a:p>
          <a:p>
            <a:pPr lvl="1"/>
            <a:r>
              <a:rPr sz="1150"/>
              <a:t>Qué es exactamente un almacén de datos y qué problema resuelve.</a:t>
            </a:r>
          </a:p>
          <a:p>
            <a:pPr lvl="1"/>
            <a:r>
              <a:rPr sz="1150"/>
              <a:t>Cómo se guarda la HISTORIA, que es lo que el sistema operativo no hace.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6.1 · Sistemas OLTP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On-Line Transaction Processing</a:t>
            </a:r>
          </a:p>
          <a:p>
            <a:pPr lvl="1"/>
            <a:r>
              <a:rPr sz="1150"/>
              <a:t>Los sistemas que sostienen la operación diaria: el TPV, el gestor del taller, la tienda en línea, el ERP.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Diseñados con un objetivo muy concreto</a:t>
            </a:r>
          </a:p>
          <a:p>
            <a:pPr lvl="1"/>
            <a:r>
              <a:rPr sz="1150"/>
              <a:t>Registrar MUCHAS operaciones PEQUEÑAS, muy deprisa y SIN PERDER NINGUNA.</a:t>
            </a:r>
          </a:p>
          <a:p>
            <a:pPr lvl="1"/>
            <a:r>
              <a:rPr sz="1150"/>
              <a:t>Todo en ellos está optimizado para eso.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consecuencia de diseño: la normalización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Los datos se reparten en muchas tablas pequeñas sin repetir información: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CLIENTES        (id, nombre, email, teléfono, id_población)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POBLACIONES     (id, nombre, cp, id_provincia)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PROVINCIAS      (id, nombre, id_comunidad)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TICKETS         (id, fecha, id_cliente, id_tienda, id_forma_pago)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LINEAS_TICKET   (id, id_ticket, id_articulo, unidades, precio, descuento)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ARTICULOS       (id, descripción, id_familia, id_marca, id_proveedor)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7693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Excelente para OPERAR: si un cliente cambia de teléfono se modifica un único registro.</a:t>
            </a:r>
          </a:p>
          <a:p>
            <a:pPr/>
            <a:r>
              <a:rPr sz="1150"/>
              <a:t>Pésimo para ANALIZAR: «ventas por familia y provincia del último trimestre» exige cruzar seis o siete tablas y recorrer millones de líneas.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Motivo de rendimiento</a:t>
            </a:r>
          </a:p>
          <a:p>
            <a:pPr lvl="1"/>
            <a:r>
              <a:rPr sz="1100"/>
              <a:t>Una consulta que recorre tres años de ventas bloquea recursos.</a:t>
            </a:r>
          </a:p>
          <a:p>
            <a:pPr lvl="1"/>
            <a:r>
              <a:rPr sz="1100"/>
              <a:t>Y ralentiza el cobro en caja.</a:t>
            </a:r>
          </a:p>
          <a:p>
            <a:pPr lvl="1"/>
            <a:r>
              <a:rPr sz="1100"/>
              <a:t>Es el motivo que todo el mundo conoce.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Motivo más sutil, y peor</a:t>
            </a:r>
          </a:p>
          <a:p>
            <a:pPr lvl="1"/>
            <a:r>
              <a:rPr sz="1100"/>
              <a:t>El sistema operativo guarda el ESTADO ACTUAL, no el histórico.</a:t>
            </a:r>
          </a:p>
          <a:p>
            <a:pPr lvl="1"/>
            <a:r>
              <a:rPr sz="1100"/>
              <a:t>Si un artículo cambia de familia, todas las ventas pasadas se recontabilizan en la familia nueva.</a:t>
            </a:r>
          </a:p>
          <a:p>
            <a:pPr lvl="1"/>
            <a:r>
              <a:rPr sz="1100"/>
              <a:t>El informe del año pasado deja de coincidir consigo mismo.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Por qué no se analiza sobre producción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6.2 · OLTP frente a OLAP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OLTP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OLAP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Propósito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Operar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Analizar y decidir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Operación típica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Insertar y actualizar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Leer y agregar millones de filas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Diseño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Normalizado, muchas tablas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Modelo dimensional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Horizonte temporal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estado actual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Años de historia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Escritura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Continua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Por lotes, nocturna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Concurrencia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Cientos o miles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Decenas de analistas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Criterio de éxito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Milisegundos por transacción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Segundos por consulta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Si se cae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 para el negocio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No se puede decidir, pero se opera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Son dos oficios distintos</a:t>
            </a:r>
          </a:p>
          <a:p>
            <a:pPr/>
            <a:r>
              <a:rPr sz="3000"/>
              <a:t>que exigen dos diseños distintos.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6.3 · El almacén de datos: las cuatro propiedades de Inmon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INTEGRADO</a:t>
            </a:r>
          </a:p>
          <a:p>
            <a:pPr lvl="1"/>
            <a:r>
              <a:rPr sz="1150"/>
              <a:t>Mismos códigos, mismas unidades, mismos nombres. Resuelve el problema de las cuatro definiciones de «venta».</a:t>
            </a:r>
          </a:p>
          <a:p>
            <a:pPr/>
            <a:r>
              <a:rPr sz="1300" b="1"/>
              <a:t>TEMÁTICO</a:t>
            </a:r>
          </a:p>
          <a:p>
            <a:pPr lvl="1"/>
            <a:r>
              <a:rPr sz="1150"/>
              <a:t>Se organiza por áreas de negocio, no por la aplicación de origen. A quien analiza le da igual si vino del TPV o de la web.</a:t>
            </a:r>
          </a:p>
          <a:p>
            <a:pPr/>
            <a:r>
              <a:rPr sz="1300" b="1"/>
              <a:t>NO VOLÁTIL</a:t>
            </a:r>
          </a:p>
          <a:p>
            <a:pPr lvl="1"/>
            <a:r>
              <a:rPr sz="1150"/>
              <a:t>Los datos no se modifican ni se borran. Un informe de hace dos años debe poder reproducirse hoy.</a:t>
            </a:r>
          </a:p>
          <a:p>
            <a:pPr/>
            <a:r>
              <a:rPr sz="1300" b="1"/>
              <a:t>HISTÓRICO</a:t>
            </a:r>
          </a:p>
          <a:p>
            <a:pPr lvl="1"/>
            <a:r>
              <a:rPr sz="1150"/>
              <a:t>Guarda cómo eran las cosas CUANDO OCURRIERON.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Lo que se gana</a:t>
            </a:r>
          </a:p>
          <a:p>
            <a:pPr lvl="1"/>
            <a:r>
              <a:rPr sz="1100"/>
              <a:t>Una versión única de la verdad.</a:t>
            </a:r>
          </a:p>
          <a:p>
            <a:pPr lvl="1"/>
            <a:r>
              <a:rPr sz="1100"/>
              <a:t>Rendimiento analítico sin tocar la operación.</a:t>
            </a:r>
          </a:p>
          <a:p>
            <a:pPr lvl="1"/>
            <a:r>
              <a:rPr sz="1100"/>
              <a:t>Historia completa, incluso de fuentes que ya no existen.</a:t>
            </a:r>
          </a:p>
          <a:p>
            <a:pPr lvl="1"/>
            <a:r>
              <a:rPr sz="1100"/>
              <a:t>Reglas de negocio aplicadas una sola vez.</a:t>
            </a:r>
          </a:p>
          <a:p>
            <a:pPr lvl="1"/>
            <a:r>
              <a:rPr sz="1100"/>
              <a:t>Trazabilidad de cada cifra.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Lo que se paga</a:t>
            </a:r>
          </a:p>
          <a:p>
            <a:pPr lvl="1"/>
            <a:r>
              <a:rPr sz="1100"/>
              <a:t>Los datos no están al minuto: se cargan por lotes.</a:t>
            </a:r>
          </a:p>
          <a:p>
            <a:pPr lvl="1"/>
            <a:r>
              <a:rPr sz="1100"/>
              <a:t>Cualquier cambio en una fuente obliga a tocar la carga.</a:t>
            </a:r>
          </a:p>
          <a:p>
            <a:pPr lvl="1"/>
            <a:r>
              <a:rPr sz="1100"/>
              <a:t>Requiere mantenimiento continuo y un responsable.</a:t>
            </a:r>
          </a:p>
          <a:p>
            <a:pPr lvl="1"/>
            <a:r>
              <a:rPr sz="1100"/>
              <a:t>Esfuerzo inicial alto; retorno a meses vista.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Ventajas y coste, los dos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6.4 · Datamarts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Un subconjunto del almacén orientado a un área</a:t>
            </a:r>
          </a:p>
          <a:p>
            <a:pPr lvl="1"/>
            <a:r>
              <a:rPr sz="1150"/>
              <a:t>Ventas, taller, compras. Sólo lo que ese departamento necesita.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Se justifica por tres razones</a:t>
            </a:r>
          </a:p>
          <a:p>
            <a:pPr lvl="1"/>
            <a:r>
              <a:rPr sz="1150"/>
              <a:t>Rendimiento · simplicidad para el usuario final · control de acceso.</a:t>
            </a:r>
          </a:p>
          <a:p>
            <a:pPr lvl="1"/>
            <a:r>
              <a:rPr sz="1150"/>
              <a:t>Un responsable de tienda no necesita —ni debe— ver los costes de proveedor.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Descendente · Inmon</a:t>
            </a:r>
          </a:p>
          <a:p>
            <a:pPr lvl="1"/>
            <a:r>
              <a:rPr sz="1100"/>
              <a:t>Primero el almacén corporativo completo y normalizado.</a:t>
            </a:r>
          </a:p>
          <a:p>
            <a:pPr lvl="1"/>
            <a:r>
              <a:rPr sz="1100"/>
              <a:t>De él se derivan los datamarts.</a:t>
            </a:r>
          </a:p>
          <a:p>
            <a:pPr lvl="1"/>
            <a:r>
              <a:rPr sz="1100"/>
              <a:t>Más coherente y más lento de rentabilizar.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Ascendente · Kimball</a:t>
            </a:r>
          </a:p>
          <a:p>
            <a:pPr lvl="1"/>
            <a:r>
              <a:rPr sz="1100"/>
              <a:t>Primero los datamarts de las áreas más urgentes.</a:t>
            </a:r>
          </a:p>
          <a:p>
            <a:pPr lvl="1"/>
            <a:r>
              <a:rPr sz="1100"/>
              <a:t>Con DIMENSIONES CONFORMADAS: el mismo cliente, el mismo producto, el mismo calendario.</a:t>
            </a:r>
          </a:p>
          <a:p>
            <a:pPr lvl="1"/>
            <a:r>
              <a:rPr sz="1100"/>
              <a:t>Da resultados antes y exige más disciplina.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Cómo se llega a ellos: el debate clásico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Lo no negociable, sea cual sea el enfoque:</a:t>
            </a:r>
          </a:p>
          <a:p>
            <a:pPr/>
            <a:r>
              <a:rPr sz="3000"/>
              <a:t>que las dimensiones</a:t>
            </a:r>
          </a:p>
          <a:p>
            <a:pPr/>
            <a:r>
              <a:rPr sz="3000"/>
              <a:t>estén CONFORMADAS.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6.5 · Las capas del almacén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arquitectura moderna organiza el refinado en capas sucesivas: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FUENTES        TPV · web · taller · ERP · clientes · objetivos.xlsx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↓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STAGING        Copia en bruto, tal cual llegó. Sin transformar.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↓           Permite reprocesar sin volver a molestar a la fuente.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INTEGRACIÓN    Limpio, deduplicado, conformado, historificado.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↓           Aquí está la versión única de la verdad.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PRESENTACIÓN   Modelo dimensional: hechos y dimensiones.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   ↓</a:t>
            </a:r>
          </a:p>
          <a:p>
            <a:pPr/>
            <a:r>
              <a:rPr sz="1100">
                <a:solidFill>
                  <a:srgbClr val="1C1E3B"/>
                </a:solidFill>
                <a:latin typeface="Menlo"/>
              </a:rPr>
              <a:t>CONSUMO        Cuadros de mando, informes, análisis,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capa de staging parece redundante y no lo 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Permite reprocesar TODA la historia si se descubre un error en las reglas de transformación.</a:t>
            </a:r>
          </a:p>
          <a:p>
            <a:pPr lvl="1"/>
            <a:r>
              <a:rPr sz="1150"/>
              <a:t>Sin depender de que los sistemas de origen conserven el dato.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el caso Rueda Libre salvó el proyecto</a:t>
            </a:r>
          </a:p>
          <a:p>
            <a:pPr lvl="1"/>
            <a:r>
              <a:rPr sz="1150"/>
              <a:t>Cuando en la versión 3 cambió la regla de imputación de coste.</a:t>
            </a:r>
          </a:p>
          <a:p>
            <a:pPr lvl="1"/>
            <a:r>
              <a:rPr sz="1150"/>
              <a:t>Sin staging habrían sido dos años de historia perdidos.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6.6 · Un atributo descriptivo puede cambiar con el tiempo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Una tienda cambia de responsable. Un cliente cambia de segmento. Un artículo cambia de familia.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¿Qué debe pasar con la historia?</a:t>
            </a:r>
          </a:p>
          <a:p>
            <a:pPr lvl="1"/>
            <a:r>
              <a:rPr sz="1150"/>
              <a:t>Es la pregunta que resuelven las DIMENSIONES LENTAMENTE CAMBIANTES.</a:t>
            </a:r>
          </a:p>
          <a:p>
            <a:pPr lvl="1"/>
            <a:r>
              <a:rPr sz="1150"/>
              <a:t>Y la respuesta correcta no es técnica: es de negocio.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Tipo 1 · sobrescribir  ·  Tipo 2 · versionar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Tipo 2, la estrategia habitual para cambios reales de negocio: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id_tienda  nombre     región    desde        hasta        vigente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17       Valencia   Levante   2019-01-01   2024-06-30     No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17       Valencia   Este      2024-07-01   9999-12-31     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Las ventas de 2023 siguen perteneciendo a Levante.</a:t>
            </a:r>
          </a:p>
          <a:p>
            <a:pPr/>
            <a:r>
              <a:rPr sz="1150"/>
              <a:t>Es lo que hace que un informe antiguo se pueda reproducir.</a:t>
            </a:r>
          </a:p>
          <a:p>
            <a:pPr/>
            <a:r>
              <a:rPr sz="1150"/>
              <a:t>Tipo 1 sobrescribe y pierde el pasado: correcto sólo para CORREGIR ERRORES.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Quién decide qué se historifica</a:t>
            </a:r>
          </a:p>
          <a:p>
            <a:pPr/>
            <a:r>
              <a:rPr sz="3000"/>
              <a:t>no es quien programa.</a:t>
            </a:r>
          </a:p>
          <a:p>
            <a:pPr/>
            <a:r>
              <a:rPr sz="3000"/>
              <a:t>Es quien lee los informes.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7 · Procesos ETL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Extracción: completa, incremental y CDC</a:t>
            </a:r>
          </a:p>
          <a:p>
            <a:pPr/>
            <a:r>
              <a:rPr sz="900"/>
              <a:t>Transformación: la fase larga</a:t>
            </a:r>
          </a:p>
          <a:p>
            <a:pPr/>
            <a:r>
              <a:rPr sz="900"/>
              <a:t>Conformado y reglas de negocio</a:t>
            </a:r>
          </a:p>
          <a:p>
            <a:pPr/>
            <a:r>
              <a:rPr sz="900"/>
              <a:t>Carga y huérfanos</a:t>
            </a:r>
          </a:p>
          <a:p>
            <a:pPr/>
            <a:r>
              <a:rPr sz="900"/>
              <a:t>ETL frente a ELT</a:t>
            </a:r>
          </a:p>
          <a:p>
            <a:pPr/>
            <a:r>
              <a:rPr sz="900"/>
              <a:t>Orquestación y gobierno del dato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parte menos vistosa y la que consume el presupuesto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Extracción · Transformación · Carga</a:t>
            </a:r>
          </a:p>
          <a:p>
            <a:pPr lvl="1"/>
            <a:r>
              <a:rPr sz="1150"/>
              <a:t>Las tres operaciones que llevan el dato desde los sistemas de origen hasta el almacén.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En el caso Rueda Libre, las quince reglas que Gertru aplicaba a mano se convirtieron en la especificación de este proceso.</a:t>
            </a:r>
          </a:p>
          <a:p>
            <a:pPr lvl="1"/>
            <a:r>
              <a:rPr sz="1150"/>
              <a:t>Ese documento fue el entregable más valioso de todo el arranque.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Completa</a:t>
            </a:r>
          </a:p>
          <a:p>
            <a:pPr lvl="1"/>
            <a:r>
              <a:rPr sz="1100"/>
              <a:t>Se trae todo el conjunto en cada ejecución.</a:t>
            </a:r>
          </a:p>
          <a:p>
            <a:pPr lvl="1"/>
            <a:r>
              <a:rPr sz="1100"/>
              <a:t>Simple y robusto.</a:t>
            </a:r>
          </a:p>
          <a:p>
            <a:pPr lvl="1"/>
            <a:r>
              <a:rPr sz="1100"/>
              <a:t>Inviable con volúmenes grandes.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Incremental y CDC</a:t>
            </a:r>
          </a:p>
          <a:p>
            <a:pPr lvl="1"/>
            <a:r>
              <a:rPr sz="1100"/>
              <a:t>Incremental: sólo lo que ha cambiado desde la última vez.</a:t>
            </a:r>
          </a:p>
          <a:p>
            <a:pPr lvl="1"/>
            <a:r>
              <a:rPr sz="1100"/>
              <a:t>Eficiente y FRÁGIL: exige una marca de modificación fiable.</a:t>
            </a:r>
          </a:p>
          <a:p>
            <a:pPr lvl="1"/>
            <a:r>
              <a:rPr sz="1100"/>
              <a:t>CDC: se leen los cambios del registro de transacciones. Lo más preciso y lo más intrusivo.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7.1 · Qué se extrae cada vez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Cuándo se extrae: negocio disfrazado de técnica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La ventana suele ser nocturna, para no competir con la operación.</a:t>
            </a:r>
          </a:p>
          <a:p>
            <a:pPr lvl="1"/>
            <a:r>
              <a:rPr sz="1150"/>
              <a:t>Eso fija la latencia del almacén: si la carga es a las tres de la mañana, el cuadro de mando muestra los datos de ayer.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Hay que hacerlo explícito</a:t>
            </a:r>
          </a:p>
          <a:p>
            <a:pPr lvl="1"/>
            <a:r>
              <a:rPr sz="1150"/>
              <a:t>Nadie debería descubrir la latencia de su cuadro de mando por accidente en una reunión.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 fallo más caro no es el que rompe el proceso.</a:t>
            </a:r>
          </a:p>
          <a:p>
            <a:pPr/>
            <a:r>
              <a:rPr sz="3000"/>
              <a:t>Es el que lo deja terminar</a:t>
            </a:r>
          </a:p>
          <a:p>
            <a:pPr/>
            <a:r>
              <a:rPr sz="3000"/>
              <a:t>con datos incompletos.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eso toda carga valida y avisa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Un cuadro de mando que muestra media jornada de ventas sin advertirlo provoca decisiones erróneas con total confianza.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Requisitos mínimos de una extracción</a:t>
            </a:r>
          </a:p>
          <a:p>
            <a:pPr lvl="1"/>
            <a:r>
              <a:rPr sz="1150"/>
              <a:t>Idempotente: se puede repetir sin duplicar datos.</a:t>
            </a:r>
          </a:p>
          <a:p>
            <a:pPr lvl="1"/>
            <a:r>
              <a:rPr sz="1150"/>
              <a:t>Valida volúmenes esperados.</a:t>
            </a:r>
          </a:p>
          <a:p>
            <a:pPr lvl="1"/>
            <a:r>
              <a:rPr sz="1150"/>
              <a:t>Marca el resultado como COMPLETO o PARCIAL.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7.2 · La transformación es la fase larga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Limpieza</a:t>
            </a:r>
          </a:p>
          <a:p>
            <a:pPr lvl="1"/>
            <a:r>
              <a:rPr sz="1150"/>
              <a:t>Fechas imposibles, importes negativos donde no puede haberlos, campos obligatorios vacíos.</a:t>
            </a:r>
          </a:p>
          <a:p>
            <a:pPr/>
            <a:r>
              <a:rPr sz="1300" b="1"/>
              <a:t>Normalización de formatos</a:t>
            </a:r>
          </a:p>
          <a:p>
            <a:pPr lvl="1"/>
            <a:r>
              <a:rPr sz="1150"/>
              <a:t>Fechas, espacios, mayúsculas, teléfonos sin separadores.</a:t>
            </a:r>
          </a:p>
          <a:p>
            <a:pPr/>
            <a:r>
              <a:rPr sz="1300" b="1"/>
              <a:t>Conversión de unidades</a:t>
            </a:r>
          </a:p>
          <a:p>
            <a:pPr lvl="1"/>
            <a:r>
              <a:rPr sz="1150"/>
              <a:t>Céntimos a euros; divisas con el cambio DE LA FECHA DE LA OPERACIÓN, no con el de hoy.</a:t>
            </a:r>
          </a:p>
          <a:p>
            <a:pPr/>
            <a:r>
              <a:rPr sz="1300" b="1"/>
              <a:t>Deduplicación</a:t>
            </a:r>
          </a:p>
          <a:p>
            <a:pPr lvl="1"/>
            <a:r>
              <a:rPr sz="1150"/>
              <a:t>Unificar los tres Manolos, conservando la trazabilidad de qué registros se fusionaron.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conformado de dimensiones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paso que hace que el almacén sea un almacén y no un montón de tablas juntas: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TPV "BICICLETA"   ┐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Web "Bici"        ├─→   familia = BIC · «Bicicletas»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ERP "BIC"         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las reglas de negocio, que se deciden UNA vez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Aquí se fija, para toda la organización, qué significa cada concepto: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¿Una venta es el pedido o el cobro?</a:t>
            </a:r>
          </a:p>
          <a:p>
            <a:pPr/>
            <a:r>
              <a:rPr sz="1150"/>
              <a:t>¿Las devoluciones restan del mes original o del mes de la devolución?</a:t>
            </a:r>
          </a:p>
          <a:p>
            <a:pPr/>
            <a:r>
              <a:rPr sz="1150"/>
              <a:t>¿El descuento va antes o después de impuestos?</a:t>
            </a:r>
          </a:p>
          <a:p>
            <a:pPr/>
            <a:r>
              <a:rPr sz="1150"/>
              <a:t>¿Un traspaso entre tiendas es una venta?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Estas decisiones NO las toma quien programa el proceso de carga.</a:t>
            </a:r>
          </a:p>
          <a:p>
            <a:pPr/>
            <a:r>
              <a:rPr sz="1150"/>
              <a:t>Las toma el negocio, y quedan documentadas.</a:t>
            </a:r>
          </a:p>
          <a:p>
            <a:pPr/>
            <a:r>
              <a:rPr sz="1150"/>
              <a:t>Es la única forma de que dos informes no den dos cifras de la misma cosa.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7.3 · La carga: cuatro puntos a decidir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Orden</a:t>
            </a:r>
          </a:p>
          <a:p>
            <a:pPr lvl="1"/>
            <a:r>
              <a:rPr sz="1150"/>
              <a:t>Primero las dimensiones, después los hechos. Un hecho que apunta a una dimensión inexistente queda huérfano.</a:t>
            </a:r>
          </a:p>
          <a:p>
            <a:pPr/>
            <a:r>
              <a:rPr sz="1300" b="1"/>
              <a:t>Gestión de la historia</a:t>
            </a:r>
          </a:p>
          <a:p>
            <a:pPr lvl="1"/>
            <a:r>
              <a:rPr sz="1150"/>
              <a:t>Aplicar la estrategia de dimensión cambiante que corresponda a cada atributo.</a:t>
            </a:r>
          </a:p>
          <a:p>
            <a:pPr/>
            <a:r>
              <a:rPr sz="1300" b="1"/>
              <a:t>Huérfanos</a:t>
            </a:r>
          </a:p>
          <a:p>
            <a:pPr lvl="1"/>
            <a:r>
              <a:rPr sz="1150"/>
              <a:t>Una venta cuyo artículo no está en catálogo se asigna a un miembro «desconocido». NUNCA se descarta: los totales dejarían de cuadrar.</a:t>
            </a:r>
          </a:p>
          <a:p>
            <a:pPr/>
            <a:r>
              <a:rPr sz="1300" b="1"/>
              <a:t>Transaccionalidad</a:t>
            </a:r>
          </a:p>
          <a:p>
            <a:pPr lvl="1"/>
            <a:r>
              <a:rPr sz="1150"/>
              <a:t>O se carga todo el lote o no se carga nada.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7.4 · ETL frente a 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Los almacenes actuales tienen más capacidad de cálculo que cualquier servidor intermedio. Por eso se ha impuesto el segundo orden.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ETL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ELT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Dónde se transforma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Servidor intermedio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Dentro del almacén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Qué se carga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Sólo el dato ya limpio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Todo, también el bruto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Reprocesar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Hay que volver a la fuente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 rehace en el almacén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Coste de almacenamiento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Menor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Mayor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Encaja 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Volúmenes moderados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Nube y grandes volúmenes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ELT cambia DÓNDE se transforma.</a:t>
            </a:r>
          </a:p>
          <a:p>
            <a:pPr/>
            <a:r>
              <a:rPr sz="3000"/>
              <a:t>No cambia SI hace falta transformar.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idea de que con un data lake ya no hay que limpiar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Es la causa directa de muchos proyectos que terminan en lo que el sector llama, sin cariño, un DATA SWAMP.</a:t>
            </a:r>
          </a:p>
          <a:p>
            <a:pPr lvl="1"/>
            <a:r>
              <a:rPr sz="1150"/>
              <a:t>Un depósito de ficheros que nadie sabe interpretar.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problema conceptual es exactamente el mismo</a:t>
            </a:r>
          </a:p>
          <a:p>
            <a:pPr lvl="1"/>
            <a:r>
              <a:rPr sz="1150"/>
              <a:t>Conformar, deduplicar, aplicar reglas y documentar sigue siendo obligatorio.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7.5 · Orquestación: qué dejar resuelto antes de producción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¿Qué pasa si una fuente no responde: se para todo o se carga el resto?</a:t>
            </a:r>
          </a:p>
          <a:p>
            <a:pPr lvl="1"/>
            <a:r>
              <a:rPr sz="1150"/>
              <a:t>¿Cuánto puede tardar como máximo antes de considerarse un fallo?</a:t>
            </a:r>
          </a:p>
          <a:p>
            <a:pPr lvl="1"/>
            <a:r>
              <a:rPr sz="1150"/>
              <a:t>¿A quién se avisa, por qué canal y con qué información?</a:t>
            </a:r>
          </a:p>
          <a:p>
            <a:pPr lvl="1"/>
            <a:r>
              <a:rPr sz="1150"/>
              <a:t>¿Cómo se relanza una carga concreta sin rehacerlo todo?</a:t>
            </a:r>
          </a:p>
          <a:p>
            <a:pPr lvl="1"/>
            <a:r>
              <a:rPr sz="1150"/>
              <a:t>¿Cómo sabe quien lee el cuadro de mando que el dato de hoy es incompleto?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Arquitectura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Las personas</a:t>
            </a:r>
          </a:p>
          <a:p>
            <a:pPr lvl="1"/>
            <a:r>
              <a:rPr sz="1100"/>
              <a:t>PROPIETARIO DEL DATO: alguien del negocio responsable de cada conjunto.</a:t>
            </a:r>
          </a:p>
          <a:p>
            <a:pPr lvl="1"/>
            <a:r>
              <a:rPr sz="1100"/>
              <a:t>Sin propietario, las decisiones las acaba tomando quien programa la carga.</a:t>
            </a:r>
          </a:p>
          <a:p>
            <a:pPr lvl="1"/>
            <a:r>
              <a:rPr sz="1100"/>
              <a:t>Que es quien menos contexto tiene.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Los documentos</a:t>
            </a:r>
          </a:p>
          <a:p>
            <a:pPr lvl="1"/>
            <a:r>
              <a:rPr sz="1100"/>
              <a:t>DICCIONARIO: qué significa cada campo, de dónde sale, cómo se calcula.</a:t>
            </a:r>
          </a:p>
          <a:p>
            <a:pPr lvl="1"/>
            <a:r>
              <a:rPr sz="1100"/>
              <a:t>LINAJE: trazabilidad de cada cifra hasta su origen.</a:t>
            </a:r>
          </a:p>
          <a:p>
            <a:pPr lvl="1"/>
            <a:r>
              <a:rPr sz="1100"/>
              <a:t>CATÁLOGO DE KPIs: fórmula exacta y propietario de cada indicador.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7.6 · El gobierno del dato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 dos departamentos discuten</a:t>
            </a:r>
          </a:p>
          <a:p>
            <a:pPr/>
            <a:r>
              <a:rPr sz="3000"/>
              <a:t>sobre qué cifra es la buena,</a:t>
            </a:r>
          </a:p>
          <a:p>
            <a:pPr/>
            <a:r>
              <a:rPr sz="3000"/>
              <a:t>el problema no es de datos:</a:t>
            </a:r>
          </a:p>
          <a:p>
            <a:pPr/>
            <a:r>
              <a:rPr sz="3000"/>
              <a:t>es de GOBIERNO.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8 · El modelo dimensional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Hechos y dimensiones</a:t>
            </a:r>
          </a:p>
          <a:p>
            <a:pPr/>
            <a:r>
              <a:rPr sz="900"/>
              <a:t>La granularidad</a:t>
            </a:r>
          </a:p>
          <a:p>
            <a:pPr/>
            <a:r>
              <a:rPr sz="900"/>
              <a:t>Estrella y copo de nieve</a:t>
            </a:r>
          </a:p>
          <a:p>
            <a:pPr/>
            <a:r>
              <a:rPr sz="900"/>
              <a:t>Jerarquías y la dimensión Fecha</a:t>
            </a:r>
          </a:p>
          <a:p>
            <a:pPr/>
            <a:r>
              <a:rPr sz="900"/>
              <a:t>Aditividad y media ponderada</a:t>
            </a:r>
          </a:p>
          <a:p>
            <a:pPr/>
            <a:r>
              <a:rPr sz="900"/>
              <a:t>Cubos, OLAP y ROLAP/MOLAP/HOLAP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 modelo determina</a:t>
            </a:r>
          </a:p>
          <a:p>
            <a:pPr/>
            <a:r>
              <a:rPr sz="3000"/>
              <a:t>qué preguntas se van a poder hacer.</a:t>
            </a:r>
          </a:p>
          <a:p>
            <a:pPr/>
            <a:r>
              <a:rPr sz="3000"/>
              <a:t>Y sobre todo, cuáles no.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Tablas de HECHOS</a:t>
            </a:r>
          </a:p>
          <a:p>
            <a:pPr lvl="1"/>
            <a:r>
              <a:rPr sz="1100"/>
              <a:t>Guardan lo que ocurre: eventos medibles.</a:t>
            </a:r>
          </a:p>
          <a:p>
            <a:pPr lvl="1"/>
            <a:r>
              <a:rPr sz="1100"/>
              <a:t>Contienen MÉTRICAS cuantitativas y claves hacia las dimensiones.</a:t>
            </a:r>
          </a:p>
          <a:p>
            <a:pPr lvl="1"/>
            <a:r>
              <a:rPr sz="1100"/>
              <a:t>Son las tablas grandes: millones de filas.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Tablas de DIMENSIÓN</a:t>
            </a:r>
          </a:p>
          <a:p>
            <a:pPr lvl="1"/>
            <a:r>
              <a:rPr sz="1100"/>
              <a:t>Guardan el contexto: quién, qué, dónde, cuándo, cómo.</a:t>
            </a:r>
          </a:p>
          <a:p>
            <a:pPr lvl="1"/>
            <a:r>
              <a:rPr sz="1100"/>
              <a:t>Contienen ATRIBUTOS descriptivos, casi siempre textos.</a:t>
            </a:r>
          </a:p>
          <a:p>
            <a:pPr lvl="1"/>
            <a:r>
              <a:rPr sz="1100"/>
              <a:t>Son tablas pequeñas y anchas.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8.1 · Los dos tipos de tabla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Las dimensiones son las variables</a:t>
            </a:r>
          </a:p>
          <a:p>
            <a:pPr/>
            <a:r>
              <a:rPr sz="3000"/>
              <a:t>nominales y ordinales.</a:t>
            </a:r>
          </a:p>
          <a:p>
            <a:pPr/>
            <a:r>
              <a:rPr sz="3000"/>
              <a:t>Los hechos, las cuantitativas.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modelo de Rueda Libre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Hecho de ventas y sus dimensiones: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4462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HECHO_VENTAS                    DIMENSIONES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id_fecha       → DIM_FECHA      mes, trimestre, festivo, temporada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id_tienda      → DIM_TIENDA     ciudad, provincia, región, m²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id_producto    → DIM_PRODUCTO   familia, marca, gama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id_cliente     → DIM_CLIENTE    segmento, antigüedad, canal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─────────────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unidades · importe_bruto · descuento · importe_neto · coste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2521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Quien sepa determinar la escala de medida de cada columna tiene ya medio modelo diseñado.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8.2 · La granularidad: la decisión más importante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Hay que tomarla ANTES que ninguna otra</a:t>
            </a:r>
          </a:p>
          <a:p>
            <a:pPr lvl="1"/>
            <a:r>
              <a:rPr sz="1150"/>
              <a:t>El grano es lo que representa UNA FILA de la tabla de hechos.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prueba consiste en completar esta frase sin ambigüedad</a:t>
            </a:r>
          </a:p>
          <a:p>
            <a:pPr lvl="1"/>
            <a:r>
              <a:rPr sz="1150"/>
              <a:t>«Una fila de HECHO_VENTAS es …»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opciones, de más fino a más grueso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Para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una línea de ticket                              ← máximo detalle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un ticket completo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las ventas de un producto en una tienda y un día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las ventas de una tienda y un día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… las ventas de una tienda y un mes               ← mínimo detalle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 regla se deduce de la escalera de medida del capítulo 2:</a:t>
            </a:r>
          </a:p>
          <a:p>
            <a:pPr/>
            <a:r>
              <a:rPr sz="1150"/>
              <a:t>SE ELIGE SIEMPRE EL GRANO MÁS FINO QUE SEA VIABLE.</a:t>
            </a:r>
          </a:p>
          <a:p>
            <a:pPr/>
            <a:r>
              <a:rPr sz="1150"/>
              <a:t>Desde el detalle se puede agregar. Desde el agregado no se desagrega nunca.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almacén cargado al grano de «tienda y mes»</a:t>
            </a:r>
          </a:p>
          <a:p>
            <a:pPr/>
            <a:r>
              <a:rPr sz="3000"/>
              <a:t>no podrá responder jamás</a:t>
            </a:r>
          </a:p>
          <a:p>
            <a:pPr/>
            <a:r>
              <a:rPr sz="3000"/>
              <a:t>a «¿qué productos se venden juntos?».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el grano de las reparaciones plantea otra decisión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«Una fila de HECHO_REPARACIONES es una orden cerrada»</a:t>
            </a:r>
          </a:p>
          <a:p>
            <a:pPr lvl="1"/>
            <a:r>
              <a:rPr sz="1150"/>
              <a:t>¿Y las que siguen abiertas?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 sólo se cargan las cerradas</a:t>
            </a:r>
          </a:p>
          <a:p>
            <a:pPr lvl="1"/>
            <a:r>
              <a:rPr sz="1150"/>
              <a:t>El tiempo medio de reparación queda SISTEMÁTICAMENTE SUBESTIMADO.</a:t>
            </a:r>
          </a:p>
          <a:p>
            <a:pPr lvl="1"/>
            <a:r>
              <a:rPr sz="1150"/>
              <a:t>Porque las que más tardan son precisamente las que aún no han cerrado.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Tiene nombre: SESGO DE SUPERVIVENCIA.</a:t>
            </a:r>
          </a:p>
          <a:p>
            <a:pPr lvl="1"/>
            <a:r>
              <a:rPr sz="1150"/>
              <a:t>Se resuelve cargando también las abiertas, con su estado.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Estrella</a:t>
            </a:r>
          </a:p>
          <a:p>
            <a:pPr lvl="1"/>
            <a:r>
              <a:rPr sz="1100"/>
              <a:t>Cada dimensión en una sola tabla, desnormalizada.</a:t>
            </a:r>
          </a:p>
          <a:p>
            <a:pPr lvl="1"/>
            <a:r>
              <a:rPr sz="1100"/>
              <a:t>La dimensión tienda contiene ciudad, provincia y región en columnas.</a:t>
            </a:r>
          </a:p>
          <a:p>
            <a:pPr lvl="1"/>
            <a:r>
              <a:rPr sz="1100"/>
              <a:t>Aunque eso repita «Valencia» miles de veces.</a:t>
            </a:r>
          </a:p>
          <a:p>
            <a:pPr lvl="1"/>
            <a:r>
              <a:rPr sz="1100"/>
              <a:t>Ahorra cruces y es MUCHO más comprensible.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Copo de nieve</a:t>
            </a:r>
          </a:p>
          <a:p>
            <a:pPr lvl="1"/>
            <a:r>
              <a:rPr sz="1100"/>
              <a:t>Las dimensiones se normalizan en varias tablas enlazadas.</a:t>
            </a:r>
          </a:p>
          <a:p>
            <a:pPr lvl="1"/>
            <a:r>
              <a:rPr sz="1100"/>
              <a:t>Tienda → ciudad → provincia → región.</a:t>
            </a:r>
          </a:p>
          <a:p>
            <a:pPr lvl="1"/>
            <a:r>
              <a:rPr sz="1100"/>
              <a:t>Ahorra espacio y evita algunas inconsistencias.</a:t>
            </a:r>
          </a:p>
          <a:p>
            <a:pPr lvl="1"/>
            <a:r>
              <a:rPr sz="1100"/>
              <a:t>Cuesta más de entender.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8.3 · Estrella y copo de nieve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En la práctica se prefiere la estrella casi siempre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El espacio es barato.</a:t>
            </a:r>
          </a:p>
          <a:p>
            <a:pPr lvl="1"/>
            <a:r>
              <a:rPr sz="1150"/>
              <a:t>Y la comprensión del modelo por parte del usuario final es lo que determina si el almacén se usa o se abandona.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8.4 · Jerarquías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Dentro de una dimensión, los atributos se organizan en niveles. Son las que hacen posible la navegación del análisis: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Geografía   Región → Provincia → Ciudad → Tienda</a:t>
            </a:r>
          </a:p>
          <a:p>
            <a:pPr/>
            <a:r>
              <a:rPr sz="1150"/>
              <a:t>Producto    Sección → Familia → Marca → Artículo</a:t>
            </a:r>
          </a:p>
          <a:p>
            <a:pPr/>
            <a:r>
              <a:rPr sz="1150"/>
              <a:t>Tiempo      Año → Trimestre → Mes → Semana → Día</a:t>
            </a:r>
          </a:p>
          <a:p>
            <a:pPr/>
            <a:r>
              <a:rPr sz="1150"/>
              <a:t>Empresa     Dirección → Región comercial → Tienda → Empleado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Una dimensión puede tener varias jerarquías ALTERNATIVAS.</a:t>
            </a:r>
          </a:p>
          <a:p>
            <a:pPr/>
            <a:r>
              <a:rPr sz="1150"/>
              <a:t>El tiempo tiene la natural y la semanal, y no encajan una en otra:</a:t>
            </a:r>
          </a:p>
          <a:p>
            <a:pPr/>
            <a:r>
              <a:rPr sz="1150"/>
              <a:t>una semana puede pertenecer a dos meses.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8.5 · La dimensión Fecha se construye a mano. Siempre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Nunca se deriva de la fecha de la transacción sobre la marcha: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699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fecha       año  trim mes  nombre_mes  sem  día_sem  laborable  temporada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2026-04-03  2026  2    4   Abril        14  Viernes    Sí       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58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Permite responder a lo que la fecha sola no permite: comparar el mismo día de la semana entre meses, excluir festivos,</a:t>
            </a:r>
          </a:p>
          <a:p>
            <a:pPr/>
            <a:r>
              <a:rPr sz="1150"/>
              <a:t>medir el efecto de la Semana Santa —que cambia de mes cada año— o segmentar por temporada.</a:t>
            </a:r>
          </a:p>
          <a:p>
            <a:pPr/>
            <a:r>
              <a:rPr sz="1150"/>
              <a:t>En un negocio de bicicletas, «temporada» explica más varianza que ninguna otra variable.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Y ahora, el contenido de este capítulo</a:t>
            </a:r>
          </a:p>
          <a:p>
            <a:pPr/>
            <a:r>
              <a:rPr sz="3000"/>
              <a:t>que evita más errores reales</a:t>
            </a:r>
          </a:p>
          <a:p>
            <a:pPr/>
            <a:r>
              <a:rPr sz="3000"/>
              <a:t>en cuadros de mando de producción.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8.6 · No todas las métricas se agregan igual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ADITIVAS · se suman por todas las dimensiones</a:t>
            </a:r>
          </a:p>
          <a:p>
            <a:pPr lvl="1"/>
            <a:r>
              <a:rPr sz="1150"/>
              <a:t>Importe, unidades, coste, margen en valor absoluto.</a:t>
            </a:r>
          </a:p>
          <a:p>
            <a:pPr/>
            <a:r>
              <a:rPr sz="1300" b="1"/>
              <a:t>SEMIADITIVAS · por unas sí y por otras no</a:t>
            </a:r>
          </a:p>
          <a:p>
            <a:pPr lvl="1"/>
            <a:r>
              <a:rPr sz="1150"/>
              <a:t>El STOCK: sumar el de todas las tiendas de un día es correcto. Sumar el de todos los días del mes no significa nada.</a:t>
            </a:r>
          </a:p>
          <a:p>
            <a:pPr/>
            <a:r>
              <a:rPr sz="1300" b="1"/>
              <a:t>NO ADITIVAS · por ninguna</a:t>
            </a:r>
          </a:p>
          <a:p>
            <a:pPr lvl="1"/>
            <a:r>
              <a:rPr sz="1150"/>
              <a:t>Todos los RATIOS, PORCENTAJES y MEDIAS.</a:t>
            </a:r>
          </a:p>
          <a:p>
            <a:pPr lvl="1"/>
            <a:r>
              <a:rPr sz="1150"/>
              <a:t>Margen % · ticket medio · tasa de conversión · satisfacción media.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porcentaje no se suma.</a:t>
            </a:r>
          </a:p>
          <a:p>
            <a:pPr/>
            <a:r>
              <a:rPr sz="3000"/>
              <a:t>Y un porcentaje</a:t>
            </a:r>
          </a:p>
          <a:p>
            <a:pPr/>
            <a:r>
              <a:rPr sz="3000"/>
              <a:t>tampoco se PROMEDIA.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8.7 · El error número uno en cuadros de mando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Cinco tiendas de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Tienda      Ventas    Margen €   Margen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Valencia   400.000     60.000      15,0 %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Zaragoza   100.000     18.000      18,0 %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Bilbao      50.000     10.000      20,0 %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Sevilla     30.000      6.600      22,0 %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Vigo        20.000      5.000      25,0 %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Dos formas de calcular el margen de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Y sólo una es correcta: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MEDIA DE LOS PORCENTAJES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(15 + 18 + 20 + 22 + 25) / 5  =  20,0 %          ← FALSO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RECALCULADO DESDE LOS TOTALES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99.600 / 600.000              =  16,6 %          ← CORRECTO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Casi CUATRO PUNTOS de diferencia.</a:t>
            </a:r>
          </a:p>
          <a:p>
            <a:pPr/>
            <a:r>
              <a:rPr sz="1150"/>
              <a:t>Y no en un ejercicio de clase: en el indicador con el que la dirección decide la política de precios de todo el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causa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El promedio simple trata IGUAL a Valencia, que hace el 67 % de la facturación, y a Vigo, que hace el 3 %.</a:t>
            </a:r>
          </a:p>
          <a:p>
            <a:pPr lvl="1"/>
            <a:r>
              <a:rPr sz="1150"/>
              <a:t>Las tiendas pequeñas, que casualmente son las de mayor margen porcentual, arrastran el indicador hacia arriba.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media ponderada, cuando sólo se tienen los porcentajes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Equivalente a recalcular desde totales: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Σ (margen%ᵢ × ventasᵢ) / Σ ventasᵢ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/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(15×400.000 + 18×100.000 + 20×50.000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+ 22×30.000 + 25×20.000) / 600.000   =   16,6 %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Los ratios no se agregan:</a:t>
            </a:r>
          </a:p>
          <a:p>
            <a:pPr/>
            <a:r>
              <a:rPr sz="3000"/>
              <a:t>se RECALCULAN.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regla práctica, para escribirla en la pared del equipo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Se guardan NUMERADOR y DENOMINADOR por separado</a:t>
            </a:r>
          </a:p>
          <a:p>
            <a:pPr lvl="1"/>
            <a:r>
              <a:rPr sz="1150"/>
              <a:t>Y el ratio se calcula en el momento de la consulta, al nivel de agregación que se esté mostrando.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HECHO_VENTAS</a:t>
            </a:r>
          </a:p>
          <a:p>
            <a:pPr lvl="1"/>
            <a:r>
              <a:rPr sz="1150"/>
              <a:t>Se guardan importe y margen. NUNCA margen_%.</a:t>
            </a:r>
          </a:p>
          <a:p>
            <a:pPr lvl="1"/>
            <a:r>
              <a:rPr sz="1150"/>
              <a:t>El porcentaje se define como medida calculada.</a:t>
            </a:r>
          </a:p>
          <a:p>
            <a:pPr lvl="1"/>
            <a:r>
              <a:rPr sz="1150"/>
              <a:t>Así, con cualquier filtro y a cualquier nivel, el número sale bien.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mismo error, con otras caras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Promediar el ticket medio de doce meses para obtener el del año.</a:t>
            </a:r>
          </a:p>
          <a:p>
            <a:pPr lvl="1"/>
            <a:r>
              <a:rPr sz="1150"/>
              <a:t>Promediar tasas de conversión de campañas de tamaños distintos.</a:t>
            </a:r>
          </a:p>
          <a:p>
            <a:pPr lvl="1"/>
            <a:r>
              <a:rPr sz="1150"/>
              <a:t>Promediar la satisfacción media de tiendas con volúmenes de encuestas distintos.</a:t>
            </a:r>
          </a:p>
          <a:p>
            <a:pPr lvl="1"/>
            <a:r>
              <a:rPr sz="1150"/>
              <a:t>Promediar porcentajes de cumplimiento de objetivo de tiendas desiguales.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Todos son el mismo error con distinto disfraz.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8.8 · Cubos multidimensionales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La estructura que materializa el modelo para consulta rápida</a:t>
            </a:r>
          </a:p>
          <a:p>
            <a:pPr lvl="1"/>
            <a:r>
              <a:rPr sz="1150"/>
              <a:t>Los hechos organizados por las dimensiones, con las agregaciones precalculadas en cada nivel de cada jerarquía.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metáfora del cubo viene de tres dimensiones</a:t>
            </a:r>
          </a:p>
          <a:p>
            <a:pPr lvl="1"/>
            <a:r>
              <a:rPr sz="1150"/>
              <a:t>Producto, tiempo y tienda. Pero un cubo real tiene tantas como haga falta.</a:t>
            </a:r>
          </a:p>
          <a:p>
            <a:pPr lvl="1"/>
            <a:r>
              <a:rPr sz="1150"/>
              <a:t>Cada celda contiene el valor de las métricas para una combinación.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cinco operaciones OLAP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Operación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Ejemplo en Rueda Libre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Drill-down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Bajar un nivel en la jerarquía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 región a provincia a tienda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Drill-up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Subir un nivel: agrega el detalle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 tienda a región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Slice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Fijar una dimensión: una rebanada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Sólo el mes de abril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Dice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Filtrar por varias a la vez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Bicicletas, región Este, 2.º trim.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Pivot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Girar filas y columnas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Familias en filas en vez de meses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 drill-down es la operación</a:t>
            </a:r>
          </a:p>
          <a:p>
            <a:pPr/>
            <a:r>
              <a:rPr sz="3000"/>
              <a:t>diagnóstica por excelencia:</a:t>
            </a:r>
          </a:p>
          <a:p>
            <a:pPr/>
            <a:r>
              <a:rPr sz="3000"/>
              <a:t>«no ha caído la región,</a:t>
            </a:r>
          </a:p>
          <a:p>
            <a:pPr/>
            <a:r>
              <a:rPr sz="3000"/>
              <a:t>ha caído UNA tienda».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8.9 · ROLAP, MOLAP y HOLAP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Cómo almacena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Ventaja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Inconveniente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Estructura multidimensional propia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Consultas muy rápidas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Proceso largo; límite de volumen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ROLAP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SQL sobre el modelo en estrella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Escala mucho mejor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Más lento en consulta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HOLAP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Agregados multidim. + detalle relacional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Compromiso entre ambos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Complejidad de las 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Modelar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Qué queda hoy de esta distinción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Modelar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Casi nada, y por dos motivos</a:t>
            </a:r>
          </a:p>
          <a:p>
            <a:pPr lvl="1"/>
            <a:r>
              <a:rPr sz="1150"/>
              <a:t>Los MOTORES COLUMNARES EN MEMORIA —lo que hay debajo de Power BI, Tableau o Analysis Services tabular— comprimen y consultan tan rápido que precalcular agregaciones ya casi no hace falta.</a:t>
            </a:r>
          </a:p>
          <a:p>
            <a:pPr lvl="1"/>
            <a:r>
              <a:rPr sz="1150"/>
              <a:t>Los ALMACENES EN LA NUBE escalan el cálculo bajo demanda: el enfoque relacional dejó de ser el lento.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sí sobrevive intacto</a:t>
            </a:r>
          </a:p>
          <a:p>
            <a:pPr lvl="1"/>
            <a:r>
              <a:rPr sz="1150"/>
              <a:t>El cubo como MODELO LÓGICO: hechos, dimensiones, jerarquías y agregaciones.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Los tres acrónimos siguen</a:t>
            </a:r>
          </a:p>
          <a:p>
            <a:pPr/>
            <a:r>
              <a:rPr sz="3000"/>
              <a:t>en todos los temarios.</a:t>
            </a:r>
          </a:p>
          <a:p>
            <a:pPr/>
            <a:r>
              <a:rPr sz="3000"/>
              <a:t>La decisión que representaban</a:t>
            </a:r>
          </a:p>
          <a:p>
            <a:pPr/>
            <a:r>
              <a:rPr sz="3000"/>
              <a:t>ya casi no se toma.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9 · Analizar: relaciones y segmentación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El análisis exploratorio</a:t>
            </a:r>
          </a:p>
          <a:p>
            <a:pPr/>
            <a:r>
              <a:rPr sz="900"/>
              <a:t>Segmentación</a:t>
            </a:r>
          </a:p>
          <a:p>
            <a:pPr/>
            <a:r>
              <a:rPr sz="900"/>
              <a:t>Comparar poblaciones equivalentes</a:t>
            </a:r>
          </a:p>
          <a:p>
            <a:pPr/>
            <a:r>
              <a:rPr sz="900"/>
              <a:t>La paradoja de Simpson</a:t>
            </a:r>
          </a:p>
          <a:p>
            <a:pPr/>
            <a:r>
              <a:rPr sz="900"/>
              <a:t>Correlación</a:t>
            </a:r>
          </a:p>
          <a:p>
            <a:pPr/>
            <a:r>
              <a:rPr sz="900"/>
              <a:t>Correlación frente a causalidad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Hasta aquí, una variable cada vez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Eso es el análisis univariante, y es imprescindible para entender la estructura de los datos y detectar anomalías.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la información que cambia decisiones</a:t>
            </a:r>
          </a:p>
          <a:p>
            <a:pPr lvl="1"/>
            <a:r>
              <a:rPr sz="1150"/>
              <a:t>Aparece cuando se estudian las RELACIONES entre variables.</a:t>
            </a:r>
          </a:p>
          <a:p>
            <a:pPr lvl="1"/>
            <a:r>
              <a:rPr sz="1150"/>
              <a:t>Aquí es donde empieza lo bueno.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9.1 · El análisis exploratorio: el paso obligatorio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Antes de cualquier modelo, indicador o cuadro de mando, se mira el dato: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¿Cuántas filas hay? ¿Cuántas se esperaban?</a:t>
            </a:r>
          </a:p>
          <a:p>
            <a:pPr/>
            <a:r>
              <a:rPr sz="1150"/>
              <a:t>2 · Por variable: escala de medida, valores distintos, nulos, mínimo y máximo.</a:t>
            </a:r>
          </a:p>
          <a:p>
            <a:pPr/>
            <a:r>
              <a:rPr sz="1150"/>
              <a:t>3 · Por variable cuantitativa: media, mediana, cuartiles, histograma.</a:t>
            </a:r>
          </a:p>
          <a:p>
            <a:pPr/>
            <a:r>
              <a:rPr sz="1150"/>
              <a:t>4 · Por variable cualitativa: tabla de frecuencias.</a:t>
            </a:r>
          </a:p>
          <a:p>
            <a:pPr/>
            <a:r>
              <a:rPr sz="1150"/>
              <a:t>5 · ¿Qué valores son imposibles? ¿Cuáles son sospechosos?</a:t>
            </a:r>
          </a:p>
          <a:p>
            <a:pPr/>
            <a:r>
              <a:rPr sz="1150"/>
              <a:t>6 · ¿La distribución tiene la forma que cabría esperar del negocio?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El análisis exploratorio</a:t>
            </a:r>
          </a:p>
          <a:p>
            <a:pPr/>
            <a:r>
              <a:rPr sz="3000"/>
              <a:t>no busca respuestas.</a:t>
            </a:r>
          </a:p>
          <a:p>
            <a:pPr/>
            <a:r>
              <a:rPr sz="3000"/>
              <a:t>Busca SORPRESAS.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detectarlas aquí cuesta cien veces menos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La mitad de los problemas de calidad de un proyecto de BI se detectan en este paso.</a:t>
            </a:r>
          </a:p>
          <a:p>
            <a:pPr lvl="1"/>
            <a:r>
              <a:rPr sz="1150"/>
              <a:t>La alternativa es detectarlos en el comité de dirección.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9.2 · Segmentar: la técnica diagnóstica más rentable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ticket medio de la cadena es 128 €. Segmentando: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Segmento                     Tickets    Ticket medio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Accesorios y ropa             1.980         41 €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Componentes y taller            410        112 €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Bicicleta completa              310      1.020 €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128 € de la cadena no describe a NINGÚN cliente real.</a:t>
            </a:r>
          </a:p>
          <a:p>
            <a:pPr/>
            <a:r>
              <a:rPr sz="1150"/>
              <a:t>Es el resultado aritmético de mezclar tres negocios distintos.</a:t>
            </a:r>
          </a:p>
          <a:p>
            <a:pPr/>
            <a:r>
              <a:rPr sz="1150"/>
              <a:t>La distribución multimodal del capítulo 4 era la señal.</a:t>
            </a:r>
          </a:p>
          <a:p>
            <a:pPr/>
            <a:r>
              <a:rPr sz="1150"/>
              <a:t>La segmentación es la respuesta.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9.3 · «Del mismo tamaño» ¿en qué?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pregunta que abría el caso contenía una trampa: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4462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        Valencia    Zaragoza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Superficie                 220 m²      215 m²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Población del área      800.000     650.000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Años abierta                  12           3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Renta media del barrio     Alta       Media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Aparcamiento                  Sí          No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Carril bici en la calle       Sí         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2521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Las dos tiendas no son comparables en NADA excepto en superficie.</a:t>
            </a:r>
          </a:p>
          <a:p>
            <a:pPr/>
            <a:r>
              <a:rPr sz="1150"/>
              <a:t>Cualquier conclusión sobre la gestión de sus responsables es injusta y probablemente falsa.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Antes de comparar dos cifras:</a:t>
            </a:r>
          </a:p>
          <a:p>
            <a:pPr/>
            <a:r>
              <a:rPr sz="3000"/>
              <a:t>¿qué hace falta que sea igual</a:t>
            </a:r>
          </a:p>
          <a:p>
            <a:pPr/>
            <a:r>
              <a:rPr sz="3000"/>
              <a:t>para que la comparación</a:t>
            </a:r>
          </a:p>
          <a:p>
            <a:pPr/>
            <a:r>
              <a:rPr sz="3000"/>
              <a:t>signifique algo?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solución práctica es normalizar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En lugar de comparar ventas absolutas, comparar ventas POR metro cuadrado, POR habitante del área de influencia o POR empleado.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 un aviso</a:t>
            </a:r>
          </a:p>
          <a:p>
            <a:pPr lvl="1"/>
            <a:r>
              <a:rPr sz="1150"/>
              <a:t>Cada normalización responde a una pregunta distinta.</a:t>
            </a:r>
          </a:p>
          <a:p>
            <a:pPr lvl="1"/>
            <a:r>
              <a:rPr sz="1150"/>
              <a:t>Y ninguna es neutra: elegir el denominador es elegir la conclusión.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9.4 · La paradoja de Simpson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Tasa de conversión de una campaña, en dos tiendas: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Valencia          Zaragoza          TOTAL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Con campaña   63/70  = 90 %     10/50  = 20 %    73/120 = 61 %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Sin campaña   27/30  = 90 %     36/180 = 20 %    63/210 = 30 %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En CADA tienda la conversión es IDÉNTICA con y sin campaña.</a:t>
            </a:r>
          </a:p>
          <a:p>
            <a:pPr/>
            <a:r>
              <a:rPr sz="1150"/>
              <a:t>Pero en el total, la campaña parece DUPLICAR la conversión.</a:t>
            </a:r>
          </a:p>
          <a:p>
            <a:pPr/>
            <a:r>
              <a:rPr sz="1150"/>
              <a:t>La causa: la campaña se concentró en Valencia, que convierte mucho mejor por razones ajenas a la campaña.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agregación puede</a:t>
            </a:r>
          </a:p>
          <a:p>
            <a:pPr/>
            <a:r>
              <a:rPr sz="3000"/>
              <a:t>INVERTIR o INVENTAR una relación.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Cuando el total dice una cosa y los segmentos otra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Hay una variable oculta que está desequilibrando los grupos.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de aquí sale un requisito de diseño</a:t>
            </a:r>
          </a:p>
          <a:p>
            <a:pPr lvl="1"/>
            <a:r>
              <a:rPr sz="1150"/>
              <a:t>Un cuadro de mando que sólo muestra totales es PELIGROSO: no permite detectar el problema.</a:t>
            </a:r>
          </a:p>
          <a:p>
            <a:pPr lvl="1"/>
            <a:r>
              <a:rPr sz="1150"/>
              <a:t>La capacidad de hacer drill-down no es una comodidad.</a:t>
            </a:r>
          </a:p>
          <a:p>
            <a:pPr lvl="1"/>
            <a:r>
              <a:rPr sz="1150"/>
              <a:t>Es un requisito de FIABILIDAD.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9.5 · La correlación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Mide en qué grado dos variables cuantitativas varían conjuntamente: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+1    relación lineal positiva perfecta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+0,7  relación positiva fuerte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+0,3  relación positiva débil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0    sin relación lineal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-0,7  relación negativa fuerte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-1    relación lineal negativa perfecta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7693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En Rueda Libre, la correlación entre temperatura media diaria y venta de bicicleta es de +0,68.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Tres advertencias que hay que dar siempre a la vez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Mide relación LINEAL</a:t>
            </a:r>
          </a:p>
          <a:p>
            <a:pPr lvl="1"/>
            <a:r>
              <a:rPr sz="1150"/>
              <a:t>Una correlación de 0 no significa que no haya relación: significa que no hay relación lineal.</a:t>
            </a:r>
          </a:p>
          <a:p>
            <a:pPr lvl="1"/>
            <a:r>
              <a:rPr sz="1150"/>
              <a:t>La venta de bicicletas frente a la temperatura deja de ser lineal a partir de cierto punto: a 42 °C nadie sale a pedalear.</a:t>
            </a:r>
          </a:p>
          <a:p>
            <a:pPr/>
            <a:r>
              <a:rPr sz="1300" b="1"/>
              <a:t>Es sensible a los ATÍPICOS</a:t>
            </a:r>
          </a:p>
          <a:p>
            <a:pPr lvl="1"/>
            <a:r>
              <a:rPr sz="1150"/>
              <a:t>Un solo Manolo puede crear o destruir una correlación.</a:t>
            </a:r>
          </a:p>
          <a:p>
            <a:pPr/>
            <a:r>
              <a:rPr sz="1300" b="1"/>
              <a:t>Correlación NO ES causalidad</a:t>
            </a:r>
          </a:p>
          <a:p>
            <a:pPr lvl="1"/>
            <a:r>
              <a:rPr sz="1150"/>
              <a:t>La advertencia más repetida del análisis de datos y la más ignorada.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Siempre se mira el diagrama de dispersión</a:t>
            </a:r>
          </a:p>
          <a:p>
            <a:pPr/>
            <a:r>
              <a:rPr sz="3000"/>
              <a:t>ANTES de creerse el coeficiente.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9.6 · Cuatro explicaciones, no 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Que dos variables se muevan juntas admite cuatro explicaciones distintas: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A CAUSA B.  La temperatura hace que se venda más bicicleta.</a:t>
            </a:r>
          </a:p>
          <a:p>
            <a:pPr/>
            <a:r>
              <a:rPr sz="1150"/>
              <a:t>2 · B CAUSA A.  La relación es la inversa de la que se suponía.</a:t>
            </a:r>
          </a:p>
          <a:p>
            <a:pPr/>
            <a:r>
              <a:rPr sz="1150"/>
              <a:t>3 · UNA TERCERA VARIABLE causa las dos.  La variable de confusión.</a:t>
            </a:r>
          </a:p>
          <a:p>
            <a:pPr/>
            <a:r>
              <a:rPr sz="1150"/>
              <a:t>4 · CASUALIDAD.  Con suficientes variables siempre aparecen correlaciones</a:t>
            </a:r>
          </a:p>
          <a:p>
            <a:pPr/>
            <a:r>
              <a:rPr sz="1150"/>
              <a:t>                  altas sin ningún significado.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Y sólo la primera es la que la gente asume automáticamente.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caso 3 es el que más daño hace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En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Observación:  las tiendas con más empleados venden más.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Conclusión:   contratemos más gente en todas las tiendas.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Realidad:     las tiendas con más población en su área tienen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más empleados Y más ventas.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La población es la VARIABLE DE CONFUSIÓN.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Contratar dos empleados más en Vigo no aumentará sus ventas: no era la plantilla lo que las causaba.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Las tres condiciones</a:t>
            </a:r>
          </a:p>
          <a:p>
            <a:pPr lvl="1"/>
            <a:r>
              <a:rPr sz="1100"/>
              <a:t>PRECEDENCIA TEMPORAL: la causa ocurre antes que el efecto.</a:t>
            </a:r>
          </a:p>
          <a:p>
            <a:pPr lvl="1"/>
            <a:r>
              <a:rPr sz="1100"/>
              <a:t>ASOCIACIÓN: cuando varía la causa, varía el efecto.</a:t>
            </a:r>
          </a:p>
          <a:p>
            <a:pPr lvl="1"/>
            <a:r>
              <a:rPr sz="1100"/>
              <a:t>AUSENCIA DE EXPLICACIÓN ALTERNATIVA: se han descartado las variables de confusión.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Y la única forma limpia</a:t>
            </a:r>
          </a:p>
          <a:p>
            <a:pPr lvl="1"/>
            <a:r>
              <a:rPr sz="1100"/>
              <a:t>El EXPERIMENTO CONTROLADO: asignar al azar quién recibe el tratamiento.</a:t>
            </a:r>
          </a:p>
          <a:p>
            <a:pPr lvl="1"/>
            <a:r>
              <a:rPr sz="1100"/>
              <a:t>En negocio se llama prueba A/B.</a:t>
            </a:r>
          </a:p>
          <a:p>
            <a:pPr lvl="1"/>
            <a:r>
              <a:rPr sz="1100"/>
              <a:t>Es perfectamente factible en una cadena: campaña en seis tiendas elegidas al azar y en las otras seis no.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Para afirmar causalidad hacen falta tres cosas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 una decisión importante</a:t>
            </a:r>
          </a:p>
          <a:p>
            <a:pPr/>
            <a:r>
              <a:rPr sz="3000"/>
              <a:t>depende de una relación causal,</a:t>
            </a:r>
          </a:p>
          <a:p>
            <a:pPr/>
            <a:r>
              <a:rPr sz="3000"/>
              <a:t>hay que hacer el experimento.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10 · Minería de datos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Qué es y qué no es</a:t>
            </a:r>
          </a:p>
          <a:p>
            <a:pPr/>
            <a:r>
              <a:rPr sz="900"/>
              <a:t>Clasificación y regresión</a:t>
            </a:r>
          </a:p>
          <a:p>
            <a:pPr/>
            <a:r>
              <a:rPr sz="900"/>
              <a:t>Agrupamiento</a:t>
            </a:r>
          </a:p>
          <a:p>
            <a:pPr/>
            <a:r>
              <a:rPr sz="900"/>
              <a:t>Reglas de asociación y anomalías</a:t>
            </a:r>
          </a:p>
          <a:p>
            <a:pPr/>
            <a:r>
              <a:rPr sz="900"/>
              <a:t>El proceso y CRISP-DM</a:t>
            </a:r>
          </a:p>
          <a:p>
            <a:pPr/>
            <a:r>
              <a:rPr sz="900"/>
              <a:t>Sobreajuste y validación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10.1 · La diferencia está en el punto de partida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En estadística descriptiva y en reporting</a:t>
            </a:r>
          </a:p>
          <a:p>
            <a:pPr lvl="1"/>
            <a:r>
              <a:rPr sz="1150"/>
              <a:t>La pregunta la formula una persona y los datos responden.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minería de datos</a:t>
            </a:r>
          </a:p>
          <a:p>
            <a:pPr lvl="1"/>
            <a:r>
              <a:rPr sz="1150"/>
              <a:t>Es el algoritmo el que propone la pregunta: busca estructura que nadie había pedido.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Los tres malentendidos</a:t>
            </a:r>
          </a:p>
          <a:p>
            <a:pPr lvl="1"/>
            <a:r>
              <a:rPr sz="1100"/>
              <a:t>No es magia: sobre datos malos produce patrones malos, con más convicción.</a:t>
            </a:r>
          </a:p>
          <a:p>
            <a:pPr lvl="1"/>
            <a:r>
              <a:rPr sz="1100"/>
              <a:t>No sustituye al conocimiento del negocio: un patrón sin interpretación es ruido.</a:t>
            </a:r>
          </a:p>
          <a:p>
            <a:pPr lvl="1"/>
            <a:r>
              <a:rPr sz="1100"/>
              <a:t>No es exactamente lo mismo que aprendizaje automático.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La diferencia con el aprendizaje automático</a:t>
            </a:r>
          </a:p>
          <a:p>
            <a:pPr lvl="1"/>
            <a:r>
              <a:rPr sz="1100"/>
              <a:t>Comparten casi todas las técnicas.</a:t>
            </a:r>
          </a:p>
          <a:p>
            <a:pPr lvl="1"/>
            <a:r>
              <a:rPr sz="1100"/>
              <a:t>La minería de datos es la disciplina orientada a DESCUBRIR conocimiento.</a:t>
            </a:r>
          </a:p>
          <a:p>
            <a:pPr lvl="1"/>
            <a:r>
              <a:rPr sz="1100"/>
              <a:t>El aprendizaje automático es la familia de algoritmos que se usa para ello y también para PREDECIR.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Qué no es la minería de datos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minería encuentra patrones.</a:t>
            </a:r>
          </a:p>
          <a:p>
            <a:pPr/>
            <a:r>
              <a:rPr sz="3000"/>
              <a:t>Decidir cuáles son conocimiento</a:t>
            </a:r>
          </a:p>
          <a:p>
            <a:pPr/>
            <a:r>
              <a:rPr sz="3000"/>
              <a:t>y cuáles casualidad</a:t>
            </a:r>
          </a:p>
          <a:p>
            <a:pPr/>
            <a:r>
              <a:rPr sz="3000"/>
              <a:t>sigue siendo trabajo de una persona.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10.2 · Las categorías y qué problema resuelve cada una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En Rueda Libre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Clasificación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Asigna a una categoría conocida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¿Este cliente se va a dar de baja?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Regresión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Estima un número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¿Cuántas unidades venderemos?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Agrupamiento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Descubre grupos naturales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tipos de cliente existen?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Reglas de asociación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Qué ocurre junto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se compra con qué?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Detección de anomalías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Identifica lo que se sale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TPV con devoluciones raras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Análisis de secuencias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Qué ocurre DESPUÉS de qué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compra después de la bici?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Supervisado</a:t>
            </a:r>
          </a:p>
          <a:p>
            <a:pPr lvl="1"/>
            <a:r>
              <a:rPr sz="1100"/>
              <a:t>Clasificación y regresión.</a:t>
            </a:r>
          </a:p>
          <a:p>
            <a:pPr lvl="1"/>
            <a:r>
              <a:rPr sz="1100"/>
              <a:t>Se necesitan ejemplos YA ETIQUETADOS para entrenar.</a:t>
            </a:r>
          </a:p>
          <a:p>
            <a:pPr lvl="1"/>
            <a:r>
              <a:rPr sz="1100"/>
              <a:t>Se sabe de antemano qué se busca.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No supervisado</a:t>
            </a:r>
          </a:p>
          <a:p>
            <a:pPr lvl="1"/>
            <a:r>
              <a:rPr sz="1100"/>
              <a:t>Agrupamiento, reglas de asociación, anomalías.</a:t>
            </a:r>
          </a:p>
          <a:p>
            <a:pPr lvl="1"/>
            <a:r>
              <a:rPr sz="1100"/>
              <a:t>No hay respuesta conocida.</a:t>
            </a:r>
          </a:p>
          <a:p>
            <a:pPr lvl="1"/>
            <a:r>
              <a:rPr sz="1100"/>
              <a:t>El valor está en que puede CONTRADECIR lo que la empresa creía.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Supervisado y no supervisado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El agrupamiento contradijo la segmentación oficial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empresa segmentaba por importe de compra: bronce, plata, oro. El algoritmo encontró otra cosa: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Ciclista de competición      alto gasto, alta frecuencia, mucho taller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Urbano de trayecto           gasto medio, MUY recurrente, poco estacional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Comprador de regalo          compra única, alto importe, dic. y junio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Aficionado de fin de semana  gasto medio-bajo, estacionalidad extrema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grupo urbano era el más rentable a tres años.</a:t>
            </a:r>
          </a:p>
          <a:p>
            <a:pPr/>
            <a:r>
              <a:rPr sz="1150"/>
              <a:t>Y la segmentación anterior no lo distinguía en absoluto: quedaba repartido entre bronce y plata.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Reglas de asociación: la cesta de la compra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 que descubrió el análisis en Rueda Libre: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«Quien compra una bicicleta de montaña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compra casco en el 62 % de los casos,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pero guantes sólo en el 11 %.»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De ahí salen decisiones concretas: colocación en tienda, recomendación en la web y diseño de paquetes de venta.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10.3 · El proceso de minería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Las seis fases, en orden: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SELECCIÓN        Qué datos entran en el análisis y cuáles no.</a:t>
            </a:r>
          </a:p>
          <a:p>
            <a:pPr/>
            <a:r>
              <a:rPr sz="1150"/>
              <a:t>2 · PREPARACIÓN      Limpiar, tratar nulos y atípicos, unificar formatos.</a:t>
            </a:r>
          </a:p>
          <a:p>
            <a:pPr/>
            <a:r>
              <a:rPr sz="1150"/>
              <a:t>3 · TRANSFORMACIÓN   Derivar variables, normalizar escalas, codificar.</a:t>
            </a:r>
          </a:p>
          <a:p>
            <a:pPr/>
            <a:r>
              <a:rPr sz="1150"/>
              <a:t>4 · MODELADO         Aplicar el algoritmo y ajustar sus parámetros.</a:t>
            </a:r>
          </a:p>
          <a:p>
            <a:pPr/>
            <a:r>
              <a:rPr sz="1150"/>
              <a:t>5 · EVALUACIÓN       ¿Funciona sobre datos no vistos? ¿Tiene sentido?</a:t>
            </a:r>
          </a:p>
          <a:p>
            <a:pPr/>
            <a:r>
              <a:rPr sz="1150"/>
              <a:t>6 · DESPLIEGUE       Ponerlo en producción, donde alguien lo use.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Las fases 1 a 3 se llevan entre el 60 % y el 80 % del tiempo total.</a:t>
            </a:r>
          </a:p>
          <a:p>
            <a:pPr/>
            <a:r>
              <a:rPr sz="1150"/>
              <a:t>La fase 4, la única que la gente asocia con la minería, es la más corta.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10.4 · CRISP-DM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metodología estándar del sector. Añade dos cosas imprescindibles: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┌───────────────────┐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1 · NEGOCIO       │◄──────────────┐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└─────────┬─────────┘      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2 · DATOS         │      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└─────────┬─────────┘      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3 · PREPARACIÓN   │◄────┐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└─────────┬─────────┘     │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4 · MODELADO      │─────┘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└─────────┬─────────┘           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5 · EVALUACIÓN    │───────────────┘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└─────────┬─────────┘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│ 6 · DESPLIEGUE    │</a:t>
            </a:r>
          </a:p>
          <a:p>
            <a:pPr/>
            <a:r>
              <a:rPr sz="1000">
                <a:solidFill>
                  <a:srgbClr val="1C1E3B"/>
                </a:solidFill>
                <a:latin typeface="Menlo"/>
              </a:rPr>
              <a:t>     └───────────────────┘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Los dos rasgos que la hacen útil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EMPIEZA POR EL NEGOCIO, no por los datos</a:t>
            </a:r>
          </a:p>
          <a:p>
            <a:pPr lvl="1"/>
            <a:r>
              <a:rPr sz="1150"/>
              <a:t>La primera fase no consiste en mirar tablas. Consiste en averiguar qué decisión hay que mejorar y cómo se sabrá si el proyecto ha servido.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LOS BUCLES SON LA NORMA</a:t>
            </a:r>
          </a:p>
          <a:p>
            <a:pPr lvl="1"/>
            <a:r>
              <a:rPr sz="1150"/>
              <a:t>De modelado se vuelve a preparación constantemente.</a:t>
            </a:r>
          </a:p>
          <a:p>
            <a:pPr lvl="1"/>
            <a:r>
              <a:rPr sz="1150"/>
              <a:t>Y de evaluación se vuelve al negocio cuando resulta que el problema estaba mal planteado.</a:t>
            </a:r>
          </a:p>
          <a:p>
            <a:pPr lvl="1"/>
            <a:r>
              <a:rPr sz="1150"/>
              <a:t>Un proyecto que avanza en línea recta no está aprendiendo nada.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10.5 · Sobreajuste: aprenderse los datos de memoria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defensa mínima es separar los datos: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ENTRENAMIENTO  (70 %)   Se construye el modelo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VALIDACIÓN     (15 %)   Se ajustan los parámetros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PRUEBA         (15 %)   Se mide el resultado final. Se usa UNA vez.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Y en series temporales la separación NO puede ser aleatoria:</a:t>
            </a:r>
          </a:p>
          <a:p>
            <a:pPr/>
            <a:r>
              <a:rPr sz="1150"/>
              <a:t>hay que entrenar con el pasado y validar con el futuro.</a:t>
            </a:r>
          </a:p>
          <a:p>
            <a:pPr/>
            <a:r>
              <a:rPr sz="1150"/>
              <a:t>Entrenar con diciembre para predecir noviembre es hacer trampa, y da resultados excelentes que no sobreviven a producción.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modelo con 99 % de acierto</a:t>
            </a:r>
          </a:p>
          <a:p>
            <a:pPr/>
            <a:r>
              <a:rPr sz="3000"/>
              <a:t>es casi siempre</a:t>
            </a:r>
          </a:p>
          <a:p>
            <a:pPr/>
            <a:r>
              <a:rPr sz="3000"/>
              <a:t>una MALA noticia.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Porque sólo hay tres explicaciones, y ninguna buena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Sobreajuste</a:t>
            </a:r>
          </a:p>
          <a:p>
            <a:pPr lvl="1"/>
            <a:r>
              <a:rPr sz="1150"/>
              <a:t>El modelo se ha aprendido los datos y fallará con datos nuevos.</a:t>
            </a:r>
          </a:p>
          <a:p>
            <a:pPr/>
            <a:r>
              <a:rPr sz="1300" b="1"/>
              <a:t>Fuga de información</a:t>
            </a:r>
          </a:p>
          <a:p>
            <a:pPr lvl="1"/>
            <a:r>
              <a:rPr sz="1150"/>
              <a:t>Alguna variable de entrada contiene implícitamente la respuesta.</a:t>
            </a:r>
          </a:p>
          <a:p>
            <a:pPr lvl="1"/>
            <a:r>
              <a:rPr sz="1150"/>
              <a:t>Predecir si una reparación se retrasará usando la fecha de salida real da un acierto perfecto y no sirve para nada: cuando hay que predecir, esa fecha todavía no existe.</a:t>
            </a:r>
          </a:p>
          <a:p>
            <a:pPr/>
            <a:r>
              <a:rPr sz="1300" b="1"/>
              <a:t>Clases desequilibradas</a:t>
            </a:r>
          </a:p>
          <a:p>
            <a:pPr lvl="1"/>
            <a:r>
              <a:rPr sz="1150"/>
              <a:t>Si sólo el 2 % se da de baja, predecir «nadie se va» acierta el 98 %.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por eso el acierto global no basta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Analizar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Hay que mirar cuántas bajas REALES detecta el modelo.</a:t>
            </a:r>
          </a:p>
          <a:p>
            <a:pPr lvl="1"/>
            <a:r>
              <a:rPr sz="1150"/>
              <a:t>Y cuántas falsas alarmas genera.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pregunta de negocio detrás</a:t>
            </a:r>
          </a:p>
          <a:p>
            <a:pPr lvl="1"/>
            <a:r>
              <a:rPr sz="1150"/>
              <a:t>¿Qué cuesta más: dejar escapar a un cliente que se iba, o regalar un descuento a uno que se quedaba?</a:t>
            </a:r>
          </a:p>
          <a:p>
            <a:pPr lvl="1"/>
            <a:r>
              <a:rPr sz="1150"/>
              <a:t>La respuesta a eso decide el umbral del modelo. No la estadística.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11 · Indicadores, informes y cuadros de mando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Métrica y KPI</a:t>
            </a:r>
          </a:p>
          <a:p>
            <a:pPr/>
            <a:r>
              <a:rPr sz="900"/>
              <a:t>La definición operativa</a:t>
            </a:r>
          </a:p>
          <a:p>
            <a:pPr/>
            <a:r>
              <a:rPr sz="900"/>
              <a:t>Ratios, tasas y medias de medias</a:t>
            </a:r>
          </a:p>
          <a:p>
            <a:pPr/>
            <a:r>
              <a:rPr sz="900"/>
              <a:t>El contexto</a:t>
            </a:r>
          </a:p>
          <a:p>
            <a:pPr/>
            <a:r>
              <a:rPr sz="900"/>
              <a:t>Informes, consultas y alertas</a:t>
            </a:r>
          </a:p>
          <a:p>
            <a:pPr/>
            <a:r>
              <a:rPr sz="900"/>
              <a:t>Diseño y visualización honesta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Todo lo anterior sirve para llegar aquí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El momento en que el análisis se convierte en algo que alguien mira y con lo que alguien decide.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Una métrica</a:t>
            </a:r>
          </a:p>
          <a:p>
            <a:pPr lvl="1"/>
            <a:r>
              <a:rPr sz="1100"/>
              <a:t>Es cualquier cosa que se puede medir.</a:t>
            </a:r>
          </a:p>
          <a:p>
            <a:pPr lvl="1"/>
            <a:r>
              <a:rPr sz="1100"/>
              <a:t>«Número de visitas a la web» es una métrica.</a:t>
            </a:r>
          </a:p>
          <a:p>
            <a:pPr lvl="1"/>
            <a:r>
              <a:rPr sz="1100"/>
              <a:t>Hay infinitas.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Un KPI</a:t>
            </a:r>
          </a:p>
          <a:p>
            <a:pPr lvl="1"/>
            <a:r>
              <a:rPr sz="1100"/>
              <a:t>Mide el avance hacia un objetivo.</a:t>
            </a:r>
          </a:p>
          <a:p>
            <a:pPr lvl="1"/>
            <a:r>
              <a:rPr sz="1100"/>
              <a:t>Y CAMBIA UNA DECISIÓN.</a:t>
            </a:r>
          </a:p>
          <a:p>
            <a:pPr lvl="1"/>
            <a:r>
              <a:rPr sz="1100"/>
              <a:t>«Tasa de conversión» puede serlo, si alguien tiene capacidad de actuar sobre ella.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11.1 · Métrica y KPI no son sinónimos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 el indicador sube o baja,</a:t>
            </a:r>
          </a:p>
          <a:p>
            <a:pPr/>
            <a:r>
              <a:rPr sz="3000"/>
              <a:t>¿alguien hace algo distinto?</a:t>
            </a:r>
          </a:p>
          <a:p>
            <a:pPr/>
            <a:r>
              <a:rPr sz="3000"/>
              <a:t>Si no: no es un KPI.</a:t>
            </a:r>
          </a:p>
          <a:p>
            <a:pPr/>
            <a:r>
              <a:rPr sz="3000"/>
              <a:t>Es decoración.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En un cuadro de mando típico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Entre el 50 % y el 70 % de lo que hay no pasa esa prueba.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indicador accionable cumple cuatro condiciones</a:t>
            </a:r>
          </a:p>
          <a:p>
            <a:pPr lvl="1"/>
            <a:r>
              <a:rPr sz="1150"/>
              <a:t>Alguien es responsable de él.</a:t>
            </a:r>
          </a:p>
          <a:p>
            <a:pPr lvl="1"/>
            <a:r>
              <a:rPr sz="1150"/>
              <a:t>Alguien puede influir en él.</a:t>
            </a:r>
          </a:p>
          <a:p>
            <a:pPr lvl="1"/>
            <a:r>
              <a:rPr sz="1150"/>
              <a:t>Hay un objetivo o una referencia.</a:t>
            </a:r>
          </a:p>
          <a:p>
            <a:pPr lvl="1"/>
            <a:r>
              <a:rPr sz="1150"/>
              <a:t>Existe una acción prevista si se desvía.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11.2 · Un KPI no está definido hasta que hay siete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definición operativa completa: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6215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Nombre        Ticket medio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Pregunta      ¿Cuánto gasta un cliente por operación?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Fórmula       Importe neto total / número de tickets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Fuente        HECHO_VENTAS, capa de presentación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Grano         Un ticket. Excluye traspasos entre tiendas.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Filtros       Excluye devoluciones y ventas a empleados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Período       Mes natural, por fecha de cobro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Responsable   Dirección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Sin eso, «ventas» significa cuatro cosas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En Rueda Libre, antes del proyecto: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Comercial    Importe con IVA, en el momento del pedido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Finanzas     Importe sin IVA, en el momento del cobro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Tienda       Todo lo que pasa por caja, traspasos incluidos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Web          Pedidos confirmados, incluidos los que luego se cancelan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Las cuatro son razonables. Ninguna es «la buena».</a:t>
            </a:r>
          </a:p>
          <a:p>
            <a:pPr/>
            <a:r>
              <a:rPr sz="1150"/>
              <a:t>Lo inaceptable es que convivan sin que nadie lo sepa: dos personas llegan a la misma reunión con dos cifras…</a:t>
            </a:r>
          </a:p>
          <a:p>
            <a:pPr/>
            <a:r>
              <a:rPr sz="1150"/>
              <a:t>y la discusión pasa de QUÉ HACER a QUIÉN TIENE RAZÓN.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tarea más rentable</a:t>
            </a:r>
          </a:p>
          <a:p>
            <a:pPr/>
            <a:r>
              <a:rPr sz="3000"/>
              <a:t>de un proyecto de BI no es técnica.</a:t>
            </a:r>
          </a:p>
          <a:p>
            <a:pPr/>
            <a:r>
              <a:rPr sz="3000"/>
              <a:t>Es conseguir que la organización</a:t>
            </a:r>
          </a:p>
          <a:p>
            <a:pPr/>
            <a:r>
              <a:rPr sz="3000"/>
              <a:t>acuerde una definición. Y la escriba.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Indicador absoluto</a:t>
            </a:r>
          </a:p>
          <a:p>
            <a:pPr lvl="1"/>
            <a:r>
              <a:rPr sz="1100"/>
              <a:t>Cuenta magnitud: 142.000 € de venta.</a:t>
            </a:r>
          </a:p>
          <a:p>
            <a:pPr lvl="1"/>
            <a:r>
              <a:rPr sz="1100"/>
              <a:t>Dice el TAMAÑO.</a:t>
            </a:r>
          </a:p>
          <a:p>
            <a:pPr lvl="1"/>
            <a:r>
              <a:rPr sz="1100"/>
              <a:t>Sin él, cualquier porcentaje es incompleto.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Indicador relativo</a:t>
            </a:r>
          </a:p>
          <a:p>
            <a:pPr lvl="1"/>
            <a:r>
              <a:rPr sz="1100"/>
              <a:t>Pone en contexto: 108 % del objetivo, +12 % interanual, 645 € por m².</a:t>
            </a:r>
          </a:p>
          <a:p>
            <a:pPr lvl="1"/>
            <a:r>
              <a:rPr sz="1100"/>
              <a:t>Dice si es BUENO.</a:t>
            </a:r>
          </a:p>
          <a:p>
            <a:pPr lvl="1"/>
            <a:r>
              <a:rPr sz="1100"/>
              <a:t>Sin él, cualquier magnitud es incompleta.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11.3 · Absolutos y relativos: hacen falta los dos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Los ratios: se miente en el denominador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Tasa de conversión = ventas / visitas</a:t>
            </a:r>
          </a:p>
          <a:p>
            <a:pPr lvl="1"/>
            <a:r>
              <a:rPr sz="1150"/>
              <a:t>Parece incontrovertible. Pero…</a:t>
            </a:r>
          </a:p>
          <a:p>
            <a:pPr lvl="1"/>
            <a:r>
              <a:rPr sz="1150"/>
              <a:t>¿Visitas o visitantes únicos? ¿Se cuentan los robots? ¿Y quien entra a consultar el horario? ¿Y quien compra por teléfono después de visitar la web, en qué canal cuenta?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Cambiando la definición del denominador, la misma tasa pasa del 2 % al 7 % sin que haya cambiado nada en el negocio.</a:t>
            </a:r>
          </a:p>
          <a:p>
            <a:pPr lvl="1"/>
            <a:r>
              <a:rPr sz="1150"/>
              <a:t>Por eso la definición operativa incluye fuente y filtros. No es burocracia.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Base pequeña</a:t>
            </a:r>
          </a:p>
          <a:p>
            <a:pPr lvl="1"/>
            <a:r>
              <a:rPr sz="1100"/>
              <a:t>«Vigo ha mejorado su conversión un 200 %».</a:t>
            </a:r>
          </a:p>
          <a:p>
            <a:pPr lvl="1"/>
            <a:r>
              <a:rPr sz="1100"/>
              <a:t>Suena espectacular hasta que se ve que pasó de 1 venta a 3.</a:t>
            </a:r>
          </a:p>
          <a:p>
            <a:pPr lvl="1"/>
            <a:r>
              <a:rPr sz="1100"/>
              <a:t>Un porcentaje sin su valor absoluto al lado es una cifra incompleta.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Puntos frente a porcentaje</a:t>
            </a:r>
          </a:p>
          <a:p>
            <a:pPr lvl="1"/>
            <a:r>
              <a:rPr sz="1100"/>
              <a:t>Del 15 % al 18 % de margen es una subida de 3 PUNTOS PORCENTUALES.</a:t>
            </a:r>
          </a:p>
          <a:p>
            <a:pPr lvl="1"/>
            <a:r>
              <a:rPr sz="1100"/>
              <a:t>O del 20 % en términos relativos.</a:t>
            </a:r>
          </a:p>
          <a:p>
            <a:pPr lvl="1"/>
            <a:r>
              <a:rPr sz="1100"/>
              <a:t>Las dos frases son correctas. Elegir la más favorable es una forma habitual de exagerar.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Dos avisos concretos sobre porcentajes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11.4 · Cómo detectar una media de medias mal hecha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Tres síntomas</a:t>
            </a:r>
          </a:p>
          <a:p>
            <a:pPr lvl="1"/>
            <a:r>
              <a:rPr sz="1150"/>
              <a:t>El total de la fila «Cadena» no coincide con lo que sale al calcularlo a mano.</a:t>
            </a:r>
          </a:p>
          <a:p>
            <a:pPr lvl="1"/>
            <a:r>
              <a:rPr sz="1150"/>
              <a:t>El indicador cambia al aplicar un filtro que no debería afectarle.</a:t>
            </a:r>
          </a:p>
          <a:p>
            <a:pPr lvl="1"/>
            <a:r>
              <a:rPr sz="1150"/>
              <a:t>El valor de la cadena está FUERA del rango de valores de las tiendas: imposible en una agregación correcta.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solución se tomó en el capítulo 8</a:t>
            </a:r>
          </a:p>
          <a:p>
            <a:pPr lvl="1"/>
            <a:r>
              <a:rPr sz="1150"/>
              <a:t>Guardar numerador y denominador; definir el ratio como medida calculada.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11.5 · Un número solo no significa nada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«142.000 €» no es bueno ni malo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indicador necesita al menos una referencia</a:t>
            </a:r>
          </a:p>
          <a:p>
            <a:pPr lvl="1"/>
            <a:r>
              <a:rPr sz="1150"/>
              <a:t>OBJETIVO: ¿cuánto se esperaba?</a:t>
            </a:r>
          </a:p>
          <a:p>
            <a:pPr lvl="1"/>
            <a:r>
              <a:rPr sz="1150"/>
              <a:t>PERÍODO ANTERIOR: ¿cómo va respecto al mes pasado?</a:t>
            </a:r>
          </a:p>
          <a:p>
            <a:pPr lvl="1"/>
            <a:r>
              <a:rPr sz="1150"/>
              <a:t>MISMO PERÍODO DEL AÑO ANTERIOR: imprescindible si hay estacionalidad.</a:t>
            </a:r>
          </a:p>
          <a:p>
            <a:pPr lvl="1"/>
            <a:r>
              <a:rPr sz="1150"/>
              <a:t>REFERENCIA EXTERNA: ¿cómo va el sector?</a:t>
            </a:r>
          </a:p>
          <a:p>
            <a:pPr lvl="1"/>
            <a:r>
              <a:rPr sz="1150"/>
              <a:t>DISTRIBUCIÓN: ¿cómo se reparte entre tiendas, productos o clientes?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Ningún indicador de tendencia central</a:t>
            </a:r>
          </a:p>
          <a:p>
            <a:pPr/>
            <a:r>
              <a:rPr sz="3000"/>
              <a:t>se publica sin su dispersión.</a:t>
            </a:r>
          </a:p>
          <a:p>
            <a:pPr/>
            <a:r>
              <a:rPr sz="3000"/>
              <a:t>Tampoco en un cuadro de mando.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tarjeta que cambió una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tiempo de reparación, publicado como corresponde: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9720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┌──────────────────────────────────────────┐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TIEMPO DE REPARACIÓN            ▲ 0,3 d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                                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Mediana        1,1 días         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P90            8,7 días    obj. &lt; 7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Media          3,2 días         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                                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▁▃▇█▆▃▂▁▁ ·      ·        ·     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│  distribución · 3 % supera 3 días        │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└──────────────────────────────────────────┘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Tres cifras en el espacio de una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Y ahora la tarjeta PERMITE DECIDIR.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se vio de inmediato</a:t>
            </a:r>
          </a:p>
          <a:p>
            <a:pPr lvl="1"/>
            <a:r>
              <a:rPr sz="1150"/>
              <a:t>El problema no era el tiempo típico: nueve de cada diez clientes recogían al día siguiente.</a:t>
            </a:r>
          </a:p>
          <a:p>
            <a:pPr lvl="1"/>
            <a:r>
              <a:rPr sz="1150"/>
              <a:t>El problema era LA COLA, concentrada en el 3 % de las órdenes.</a:t>
            </a:r>
          </a:p>
          <a:p>
            <a:pPr lvl="1"/>
            <a:r>
              <a:rPr sz="1150"/>
              <a:t>Las restauraciones de Manolo. Que no eran un fallo de proceso, sino una línea de negocio con el triple de margen.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año de presión sobre el taller</a:t>
            </a:r>
          </a:p>
          <a:p>
            <a:pPr/>
            <a:r>
              <a:rPr sz="3000"/>
              <a:t>se resolvió publicando</a:t>
            </a:r>
          </a:p>
          <a:p>
            <a:pPr/>
            <a:r>
              <a:rPr sz="3000"/>
              <a:t>tres cifras en lugar de una.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Informes</a:t>
            </a:r>
          </a:p>
          <a:p>
            <a:pPr lvl="1"/>
            <a:r>
              <a:rPr sz="1100"/>
              <a:t>Documentos estructurados, periodicidad fija, destinatarios definidos.</a:t>
            </a:r>
          </a:p>
          <a:p>
            <a:pPr lvl="1"/>
            <a:r>
              <a:rPr sz="1100"/>
              <a:t>Siguen siendo la respuesta correcta cuando hay que dejar constancia o el contenido es regulatorio.</a:t>
            </a:r>
          </a:p>
          <a:p>
            <a:pPr lvl="1"/>
            <a:r>
              <a:rPr sz="1100"/>
              <a:t>Operativos frente a analíticos.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Consultas · tres modelos</a:t>
            </a:r>
          </a:p>
          <a:p>
            <a:pPr lvl="1"/>
            <a:r>
              <a:rPr sz="1100"/>
              <a:t>AD HOC por el equipo de BI: control total, cuello de botella garantizado.</a:t>
            </a:r>
          </a:p>
          <a:p>
            <a:pPr lvl="1"/>
            <a:r>
              <a:rPr sz="1100"/>
              <a:t>AUTOSERVICIO LIBRE: rapidez y caos. Cada usuario, su verdad.</a:t>
            </a:r>
          </a:p>
          <a:p>
            <a:pPr lvl="1"/>
            <a:r>
              <a:rPr sz="1100"/>
              <a:t>AUTOSERVICIO GOBERNADO: sobre un modelo semántico común. Es el recomendable.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11.6 · Informes y consultas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Alertas: cuatro requisitos para que funcionen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UMBRAL JUSTIFICADO, no elegido a ojo. Un umbral estadístico —más de 2σ sobre la media histórica— envejece mucho mejor que un número fijo.</a:t>
            </a:r>
          </a:p>
          <a:p>
            <a:pPr lvl="1"/>
            <a:r>
              <a:rPr sz="1150"/>
              <a:t>DESTINATARIO con capacidad de actuar.</a:t>
            </a:r>
          </a:p>
          <a:p>
            <a:pPr lvl="1"/>
            <a:r>
              <a:rPr sz="1150"/>
              <a:t>ACCIÓN PREVISTA. Una alerta sin acción asociada es ruido.</a:t>
            </a:r>
          </a:p>
          <a:p>
            <a:pPr lvl="1"/>
            <a:r>
              <a:rPr sz="1150"/>
              <a:t>VOLUMEN CONTROLADO.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fatiga de alertas es real</a:t>
            </a:r>
          </a:p>
          <a:p>
            <a:pPr lvl="1"/>
            <a:r>
              <a:rPr sz="1150"/>
              <a:t>Un sistema que avisa veinte veces al día deja de leerse en una semana.</a:t>
            </a:r>
          </a:p>
          <a:p>
            <a:pPr lvl="1"/>
            <a:r>
              <a:rPr sz="1150"/>
              <a:t>Y entonces también se pierde la que importaba.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11.7 · Las cinco preguntas antes de abrir la herramienta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Un cuadro de mando no es una colección de gráficos: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¿Quién lo va a mirar? Un cuadro sirve a UNA audiencia, no a tres.</a:t>
            </a:r>
          </a:p>
          <a:p>
            <a:pPr/>
            <a:r>
              <a:rPr sz="1150"/>
              <a:t>2 · ¿Con qué frecuencia?</a:t>
            </a:r>
          </a:p>
          <a:p>
            <a:pPr/>
            <a:r>
              <a:rPr sz="1150"/>
              <a:t>3 · ¿Qué decisión permite tomar?</a:t>
            </a:r>
          </a:p>
          <a:p>
            <a:pPr/>
            <a:r>
              <a:rPr sz="1150"/>
              <a:t>4 · ¿Qué hace esa persona si el indicador se pone en rojo?</a:t>
            </a:r>
          </a:p>
          <a:p>
            <a:pPr/>
            <a:r>
              <a:rPr sz="1150"/>
              <a:t>5 · ¿Qué es lo primero que tiene que ver al abrirlo?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De la audiencia sale el nivel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Estratégico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Táctico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Operativo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Audiencia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Dirección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Responsable de tienda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Encargado de turno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Horizonte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Años y trimestres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Meses y semanas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Hoy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Indicadores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 a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10 a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Los que caben en pantalla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Detalle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Muy agregado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Agregado con drill-down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Registro individual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Actualización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Mensual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Continua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Principios de composición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RESUMEN ARRIBA, DETALLE ABAJO. Lo primero que se ve responde a «¿va bien o mal?».</a:t>
            </a:r>
          </a:p>
          <a:p>
            <a:pPr lvl="1"/>
            <a:r>
              <a:rPr sz="1150"/>
              <a:t>MÁXIMO TRES NIVELES DE LECTURA: estado, evolución, desglose.</a:t>
            </a:r>
          </a:p>
          <a:p>
            <a:pPr lvl="1"/>
            <a:r>
              <a:rPr sz="1150"/>
              <a:t>CODIFICAR EL ESTADO EN LA FORMA, no sólo en el número. Debe leerse sin leer.</a:t>
            </a:r>
          </a:p>
          <a:p>
            <a:pPr lvl="1"/>
            <a:r>
              <a:rPr sz="1150"/>
              <a:t>LA NAVEGACIÓN EN PROFUNDIDAD no es un extra: es lo que evita la paradoja de Simpson.</a:t>
            </a:r>
          </a:p>
          <a:p>
            <a:pPr lvl="1"/>
            <a:r>
              <a:rPr sz="1150"/>
              <a:t>TODO INDICADOR LLEVA SU DEFINICIÓN accesible: fórmula, fuente y período.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11.8 · Elegir el gráfico según la escala de medida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se quiere mostrar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Gráfico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Comparar categorías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Barras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Composición de un todo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Barras apiladas al 100 % · sectores si son pocas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Evolución en el tiempo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Líneas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Distribución de una continua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Histograma · caja y bigotes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Relación entre dos cuantitativas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Dispersión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Comparar distribuciones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Cajas múltiples · violines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valor contra su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Barra con marcador de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Comunicar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trampas más habituales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Comunicar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EJE TRUNCADO</a:t>
            </a:r>
          </a:p>
          <a:p>
            <a:pPr lvl="1"/>
            <a:r>
              <a:rPr sz="1150"/>
              <a:t>Empezar en 95 en lugar de en 0 convierte un 2 % en un precipicio. En barras el eje debe empezar en cero: la longitud codifica la magnitud.</a:t>
            </a:r>
          </a:p>
          <a:p>
            <a:pPr/>
            <a:r>
              <a:rPr sz="1300" b="1"/>
              <a:t>DOBLE EJE</a:t>
            </a:r>
          </a:p>
          <a:p>
            <a:pPr lvl="1"/>
            <a:r>
              <a:rPr sz="1150"/>
              <a:t>Moviendo las escalas se puede hacer que dos series parezcan correlacionadas o independientes a voluntad.</a:t>
            </a:r>
          </a:p>
          <a:p>
            <a:pPr/>
            <a:r>
              <a:rPr sz="1300" b="1"/>
              <a:t>SECTORES CON DEMASIADAS CATEGORÍAS</a:t>
            </a:r>
          </a:p>
          <a:p>
            <a:pPr lvl="1"/>
            <a:r>
              <a:rPr sz="1150"/>
              <a:t>Ocho porciones son ilegibles. Y el 3D distorsiona las áreas.</a:t>
            </a:r>
          </a:p>
          <a:p>
            <a:pPr/>
            <a:r>
              <a:rPr sz="1300" b="1"/>
              <a:t>EXCESO DE COLOR</a:t>
            </a:r>
          </a:p>
          <a:p>
            <a:pPr lvl="1"/>
            <a:r>
              <a:rPr sz="1150"/>
              <a:t>Si todo está coloreado, el color deja de significar nada.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cuadro de mando atractivo</a:t>
            </a:r>
          </a:p>
          <a:p>
            <a:pPr/>
            <a:r>
              <a:rPr sz="3000"/>
              <a:t>y conceptualmente falso</a:t>
            </a:r>
          </a:p>
          <a:p>
            <a:pPr/>
            <a:r>
              <a:rPr sz="3000"/>
              <a:t>es más peligroso que una hoja fea:</a:t>
            </a:r>
          </a:p>
          <a:p>
            <a:pPr/>
            <a:r>
              <a:rPr sz="3000"/>
              <a:t>se cree más y se cuestiona menos.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12 · Series temporales y pronósticos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Describir no es predecir</a:t>
            </a:r>
          </a:p>
          <a:p>
            <a:pPr/>
            <a:r>
              <a:rPr sz="900"/>
              <a:t>Tendencia, estacionalidad, ciclo y ruido</a:t>
            </a:r>
          </a:p>
          <a:p>
            <a:pPr/>
            <a:r>
              <a:rPr sz="900"/>
              <a:t>Comparar períodos</a:t>
            </a:r>
          </a:p>
          <a:p>
            <a:pPr/>
            <a:r>
              <a:rPr sz="900"/>
              <a:t>Señal y ruido</a:t>
            </a:r>
          </a:p>
          <a:p>
            <a:pPr/>
            <a:r>
              <a:rPr sz="900"/>
              <a:t>Modelos sencillos de pronóstico</a:t>
            </a:r>
          </a:p>
          <a:p>
            <a:pPr/>
            <a:r>
              <a:rPr sz="900"/>
              <a:t>Incertidumbre y tamaño de muestra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12.1 · Dos oficios distintos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Predicción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Pregunta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ha pasado?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¿Qué va a pasar?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Los observados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Los observados, para inferir los futuros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Validación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Que el cálculo sea correcto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Que acierte sobre datos no vistos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Resultado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 hecho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Una estimación con incertidumbre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Si se equivoca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Estaba mal el dato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Puede estar todo bien y aun así fallar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pronóstico sin margen de error</a:t>
            </a:r>
          </a:p>
          <a:p>
            <a:pPr/>
            <a:r>
              <a:rPr sz="3000"/>
              <a:t>no es un pronóstico:</a:t>
            </a:r>
          </a:p>
          <a:p>
            <a:pPr/>
            <a:r>
              <a:rPr sz="3000"/>
              <a:t>es una opinión con decimales.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12.2 · Los cuatro componentes de una serie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Una variable medida a lo largo del tiempo se descompone conceptualmente así: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/>
              <a:t>TENDENCIA        El movimiento de fondo a largo plazo.</a:t>
            </a:r>
          </a:p>
          <a:p>
            <a:pPr/>
            <a:r>
              <a:rPr sz="1000"/>
              <a:t>                 Rueda Libre crece un 4 % anual.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ESTACIONALIDAD   El patrón que se repite con período FIJO y conocido.</a:t>
            </a:r>
          </a:p>
          <a:p>
            <a:pPr/>
            <a:r>
              <a:rPr sz="1000"/>
              <a:t>                 Abril-septiembre concentra el 68 % de la venta anual.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CICLO            Oscilaciones de período largo e IRREGULAR.</a:t>
            </a:r>
          </a:p>
          <a:p>
            <a:pPr/>
            <a:r>
              <a:rPr sz="1000"/>
              <a:t>                 Ligadas a la economía. Su duración no es fija.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RUIDO            Lo que queda. Variación aleatoria sin patrón.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Serie observada = Tendencia + Estacionalidad + Ciclo + 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Para qué sirve la descomposición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Para responder a una sola pregunta</a:t>
            </a:r>
          </a:p>
          <a:p>
            <a:pPr lvl="1"/>
            <a:r>
              <a:rPr sz="1150"/>
              <a:t>¿Hemos crecido de verdad, o es que era verano?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en bicicletas la estacionalidad es brutal</a:t>
            </a:r>
          </a:p>
          <a:p>
            <a:pPr lvl="1"/>
            <a:r>
              <a:rPr sz="1150"/>
              <a:t>A varias escalas a la vez: anual, mensual (los días de cobro), semanal (el sábado es el mejor día) y hasta diaria.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«Las ventas han caído un 31 %</a:t>
            </a:r>
          </a:p>
          <a:p>
            <a:pPr/>
            <a:r>
              <a:rPr sz="3000"/>
              <a:t>respecto al mes pasado.»</a:t>
            </a:r>
          </a:p>
          <a:p>
            <a:pPr/>
            <a:r>
              <a:rPr sz="3000"/>
              <a:t>Si era agosto y ahora es septiembre,</a:t>
            </a:r>
          </a:p>
          <a:p>
            <a:pPr/>
            <a:r>
              <a:rPr sz="3000"/>
              <a:t>esa frase no informa de nada.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12.3 · Las formas correctas de comparar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Comparación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responde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Cuándo usarla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Período anterior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Movimiento inmediato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Series sin estacionalidad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Interanual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Crecimiento real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Siempre en negocios estacionales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Acumulado del 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Avance hacia el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Seguimiento de objetivos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móvil de 12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Tendencia limpia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Detectar cambios de fondo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Frente a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Cumplimiento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Rendición de cuentas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comparación interanual, con un aviso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Elimina la estacionalidad de golpe</a:t>
            </a:r>
          </a:p>
          <a:p>
            <a:pPr lvl="1"/>
            <a:r>
              <a:rPr sz="1150"/>
              <a:t>Septiembre 2026 frente a septiembre 2025: +6 %. ESO sí informa.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si el año anterior fue anómalo…</a:t>
            </a:r>
          </a:p>
          <a:p>
            <a:pPr lvl="1"/>
            <a:r>
              <a:rPr sz="1150"/>
              <a:t>La comparación hereda la anomalía.</a:t>
            </a:r>
          </a:p>
          <a:p>
            <a:pPr lvl="1"/>
            <a:r>
              <a:rPr sz="1150"/>
              <a:t>Comparar contra un mes en que la tienda estuvo cerrada por obras produce crecimientos espectaculares y falsos.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12.4 · El error operativo más caro no es de cálculo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Es reaccionar a cada punto del gráfico</a:t>
            </a:r>
          </a:p>
          <a:p>
            <a:pPr lvl="1"/>
            <a:r>
              <a:rPr sz="1150"/>
              <a:t>Una serie con ruido sube y baja continuamente sin que nada haya cambiado.</a:t>
            </a:r>
          </a:p>
          <a:p>
            <a:pPr lvl="1"/>
            <a:r>
              <a:rPr sz="1150"/>
              <a:t>Si cada subida provoca una felicitación y cada bajada una reunión de urgencia, la organización se agota persiguiendo variaciones aleatorias.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Las tres comprobaciones</a:t>
            </a:r>
          </a:p>
          <a:p>
            <a:pPr lvl="1"/>
            <a:r>
              <a:rPr sz="1100"/>
              <a:t>VARIABILIDAD HISTÓRICA: si la serie oscila habitualmente ±8 % y este mes ha bajado un 5 %, no ha pasado nada.</a:t>
            </a:r>
          </a:p>
          <a:p>
            <a:pPr lvl="1"/>
            <a:r>
              <a:rPr sz="1100"/>
              <a:t>PERSISTENCIA: un punto no es una tendencia. Tres períodos consecutivos en la misma dirección empiezan a serlo.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Y el criterio del capítulo 5</a:t>
            </a:r>
          </a:p>
          <a:p>
            <a:pPr lvl="1"/>
            <a:r>
              <a:rPr sz="1100"/>
              <a:t>LÍMITES DE CONTROL: media histórica ± 2σ.</a:t>
            </a:r>
          </a:p>
          <a:p>
            <a:pPr lvl="1"/>
            <a:r>
              <a:rPr sz="1100"/>
              <a:t>Dentro de esa banda, es ruido.</a:t>
            </a:r>
          </a:p>
          <a:p>
            <a:pPr lvl="1"/>
            <a:r>
              <a:rPr sz="1100"/>
              <a:t>Fuera, merece investigación.</a:t>
            </a:r>
          </a:p>
          <a:p>
            <a:pPr lvl="1"/>
            <a:r>
              <a:rPr sz="1100"/>
              <a:t>Es Chebyshev aplicado al tiempo.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Cómo distinguir señal de ruido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Antes de explicar</a:t>
            </a:r>
          </a:p>
          <a:p>
            <a:pPr/>
            <a:r>
              <a:rPr sz="3000"/>
              <a:t>por qué ha bajado un indicador,</a:t>
            </a:r>
          </a:p>
          <a:p>
            <a:pPr/>
            <a:r>
              <a:rPr sz="3000"/>
              <a:t>hay que demostrar que HA BAJADO.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12.5 · Modelos sencillos de pronóstico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supone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Cuándo sirve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Ingenuo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próximo período = el último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Referencia OBLIGATORIA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Ingenuo estacional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próximo julio = el julio pasado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Muy difícil de batir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móvil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promedio de los últimos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Suaviza; va con retraso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Suavizado exponencial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Más peso a lo reciente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Lo más usado en demanda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Regresión sobre tendencia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Ajustar una recta y prolongarla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Series con tendencia clara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Cualquier modelo</a:t>
            </a:r>
          </a:p>
          <a:p>
            <a:pPr/>
            <a:r>
              <a:rPr sz="3000"/>
              <a:t>que no supere al INGENUO</a:t>
            </a:r>
          </a:p>
          <a:p>
            <a:pPr/>
            <a:r>
              <a:rPr sz="3000"/>
              <a:t>no aporta nada.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Dos avisos sobre la regresión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Extrapolar fuera del rango observado es una APUESTA, no un cálculo</a:t>
            </a:r>
          </a:p>
          <a:p>
            <a:pPr lvl="1"/>
            <a:r>
              <a:rPr sz="1150"/>
              <a:t>Una recta ajustada sobre tres años de crecimiento predice crecimiento indefinido.</a:t>
            </a:r>
          </a:p>
          <a:p>
            <a:pPr lvl="1"/>
            <a:r>
              <a:rPr sz="1150"/>
              <a:t>Y ningún negocio crece indefinidamente.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Ajustar bien el pasado no garantiza nada sobre el futuro</a:t>
            </a:r>
          </a:p>
          <a:p>
            <a:pPr lvl="1"/>
            <a:r>
              <a:rPr sz="1150"/>
              <a:t>Un polinomio de grado alto puede pasar exactamente por todos los puntos históricos y dar predicciones absurdas al período siguiente.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12.6 · Un pronóstico se comunica con tres elementos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Siempre los tres. Nunca sólo el primero: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Valor esperado    Ventas de julio: 148.000 €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Intervalo         Entre 131.000 y 165.000 € (80 % de confianza)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Supuestos         Sin apertura de tiendas nuevas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  Sin cambios de precio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  Meteorología dentro de lo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intervalo no es una debilidad del modelo: es INFORMACIÓN.</a:t>
            </a:r>
          </a:p>
          <a:p>
            <a:pPr/>
            <a:r>
              <a:rPr sz="1150"/>
              <a:t>Un rango estrecho permite comprometer stock; uno ancho obliga a preparar dos escenarios.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la incertidumbre crece con el horizonte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Un pronóstico a un mes puede ser útil.</a:t>
            </a:r>
          </a:p>
          <a:p>
            <a:pPr lvl="1"/>
            <a:r>
              <a:rPr sz="1150"/>
              <a:t>A tres años, con la misma metodología, es un ejercicio de ficción.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Cuando pidan una previsión a cinco años</a:t>
            </a:r>
          </a:p>
          <a:p>
            <a:pPr lvl="1"/>
            <a:r>
              <a:rPr sz="1150"/>
              <a:t>Lo honesto es entregar ESCENARIOS —optimista, central, pesimista— y no una cifra.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12.7 · Un porcentaje sobre pocos casos es una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Tres afirmaciones reales de cuadros de mando: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4523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La nueva página de producto convierte al 100 %.   ← sobre 3 visitas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La tienda de Vigo tiene 5 estrellas de media.     ← sobre 2 reseñas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El nuevo modelo se devuelve el 50 % de las veces. ← se han vendido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115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Tres reglas: mostrar SIEMPRE el tamaño de la muestra junto al porcentaje;</a:t>
            </a:r>
          </a:p>
          <a:p>
            <a:pPr/>
            <a:r>
              <a:rPr sz="1150"/>
              <a:t>definir un mínimo por debajo del cual no se publica;</a:t>
            </a:r>
          </a:p>
          <a:p>
            <a:pPr/>
            <a:r>
              <a:rPr sz="1150"/>
              <a:t>y desconfiar de los extremos de cualquier ranking.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Predecir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Por qué desconfiar de los extremos de un 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Los primeros y los últimos puestos suelen estar ocupados por los grupos más pequeños.</a:t>
            </a:r>
          </a:p>
          <a:p>
            <a:pPr lvl="1"/>
            <a:r>
              <a:rPr sz="1150"/>
              <a:t>Simplemente porque VARÍAN MÁS.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Rueda Libre</a:t>
            </a:r>
          </a:p>
          <a:p>
            <a:pPr lvl="1"/>
            <a:r>
              <a:rPr sz="1150"/>
              <a:t>Los tres primeros puestos del ranking de satisfacción eran las tres tiendas más pequeñas.</a:t>
            </a:r>
          </a:p>
          <a:p>
            <a:pPr lvl="1"/>
            <a:r>
              <a:rPr sz="1150"/>
              <a:t>Y los tres últimos, también.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12.8 · Los cuatro riesgos del pronóstico automatizado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Predecir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DEGRADACIÓN</a:t>
            </a:r>
          </a:p>
          <a:p>
            <a:pPr lvl="1"/>
            <a:r>
              <a:rPr sz="1150"/>
              <a:t>Un modelo entrenado hace dos años deja de valer cuando el negocio cambia.</a:t>
            </a:r>
          </a:p>
          <a:p>
            <a:pPr/>
            <a:r>
              <a:rPr sz="1300" b="1"/>
              <a:t>CAMBIOS DE RÉGIMEN</a:t>
            </a:r>
          </a:p>
          <a:p>
            <a:pPr lvl="1"/>
            <a:r>
              <a:rPr sz="1150"/>
              <a:t>Una pandemia, un cambio de precios, un competidor nuevo. Ningún modelo los anticipa, y todos siguen prediciendo con total confianza.</a:t>
            </a:r>
          </a:p>
          <a:p>
            <a:pPr/>
            <a:r>
              <a:rPr sz="1300" b="1"/>
              <a:t>REALIMENTACIÓN</a:t>
            </a:r>
          </a:p>
          <a:p>
            <a:pPr lvl="1"/>
            <a:r>
              <a:rPr sz="1150"/>
              <a:t>Si el pronóstico determina el pedido y el pedido determina la venta, el modelo acaba prediciendo su propia decisión.</a:t>
            </a:r>
          </a:p>
          <a:p>
            <a:pPr/>
            <a:r>
              <a:rPr sz="1300" b="1"/>
              <a:t>AUTOMATIZAR UNA CONCLUSIÓN INCORRECTA</a:t>
            </a:r>
          </a:p>
          <a:p>
            <a:pPr lvl="1"/>
            <a:r>
              <a:rPr sz="1150"/>
              <a:t>El riesgo mayor, y el que conecta con todo el curso.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automatización</a:t>
            </a:r>
          </a:p>
          <a:p>
            <a:pPr/>
            <a:r>
              <a:rPr sz="3000"/>
              <a:t>no mejora la calidad de un análisis.</a:t>
            </a:r>
          </a:p>
          <a:p>
            <a:pPr/>
            <a:r>
              <a:rPr sz="3000"/>
              <a:t>Si el razonamiento es bueno, lo escala.</a:t>
            </a:r>
          </a:p>
          <a:p>
            <a:pPr/>
            <a:r>
              <a:rPr sz="3000"/>
              <a:t>Si es malo, lo INDUSTRIALIZA.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13 · La gestión de un proyecto de BI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Por qué no es un proyecto de desarrollo</a:t>
            </a:r>
          </a:p>
          <a:p>
            <a:pPr/>
            <a:r>
              <a:rPr sz="900"/>
              <a:t>Las once fases</a:t>
            </a:r>
          </a:p>
          <a:p>
            <a:pPr/>
            <a:r>
              <a:rPr sz="900"/>
              <a:t>Los roles y qué pasa si falta alguno</a:t>
            </a:r>
          </a:p>
          <a:p>
            <a:pPr/>
            <a:r>
              <a:rPr sz="900"/>
              <a:t>Planificación y estimación realista</a:t>
            </a:r>
          </a:p>
          <a:p>
            <a:pPr/>
            <a:r>
              <a:rPr sz="900"/>
              <a:t>Los diez riesgos típicos</a:t>
            </a:r>
          </a:p>
          <a:p>
            <a:pPr/>
            <a:r>
              <a:rPr sz="900"/>
              <a:t>Validación y evolución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13.1 · Tres rasgos que lo hacen distinto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Proyecto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alcance se DESCUBRE trabajando</a:t>
            </a:r>
          </a:p>
          <a:p>
            <a:pPr lvl="1"/>
            <a:r>
              <a:rPr sz="1150"/>
              <a:t>Nadie sabe qué contiene realmente una fuente hasta que la abre.</a:t>
            </a:r>
          </a:p>
          <a:p>
            <a:pPr lvl="1"/>
            <a:r>
              <a:rPr sz="1150"/>
              <a:t>Prometer alcance cerrado antes de perfilar los datos es prometer algo que no se puede saber.</a:t>
            </a:r>
          </a:p>
          <a:p>
            <a:pPr/>
            <a:r>
              <a:rPr sz="1300" b="1"/>
              <a:t>La mayor parte del esfuerzo está en los DATOS</a:t>
            </a:r>
          </a:p>
          <a:p>
            <a:pPr lvl="1"/>
            <a:r>
              <a:rPr sz="1150"/>
              <a:t>Construir el cuadro de mando es la parte rápida.</a:t>
            </a:r>
          </a:p>
          <a:p>
            <a:pPr/>
            <a:r>
              <a:rPr sz="1300" b="1"/>
              <a:t>El valor no está en el entregable: está en el USO</a:t>
            </a:r>
          </a:p>
          <a:p>
            <a:pPr lvl="1"/>
            <a:r>
              <a:rPr sz="1150"/>
              <a:t>Un cuadro terminado que nadie abre es un proyecto fracasado, aunque cumpliera plazo y presupuesto.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Los proyectos de BI</a:t>
            </a:r>
          </a:p>
          <a:p>
            <a:pPr/>
            <a:r>
              <a:rPr sz="3000"/>
              <a:t>no fracasan por tecnología.</a:t>
            </a:r>
          </a:p>
          <a:p>
            <a:pPr/>
            <a:r>
              <a:rPr sz="3000"/>
              <a:t>Fracasan por preguntas mal planteadas</a:t>
            </a:r>
          </a:p>
          <a:p>
            <a:pPr/>
            <a:r>
              <a:rPr sz="3000"/>
              <a:t>y definiciones que nadie acordó.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13.2 · Las once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En orden: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 1  Pregunta de negocio         ¿Qué decisión hay que mejorar?</a:t>
            </a:r>
          </a:p>
          <a:p>
            <a:pPr/>
            <a:r>
              <a:rPr sz="1150"/>
              <a:t> 2  Audiencia e interlocutores  ¿Quién decide y quién sabe?</a:t>
            </a:r>
          </a:p>
          <a:p>
            <a:pPr/>
            <a:r>
              <a:rPr sz="1150"/>
              <a:t> 3  Inventario de fuentes       ¿Qué hay y dónde está?</a:t>
            </a:r>
          </a:p>
          <a:p>
            <a:pPr/>
            <a:r>
              <a:rPr sz="1150"/>
              <a:t> 4  Perfilado y calidad         ¿Se puede confiar en ello?</a:t>
            </a:r>
          </a:p>
          <a:p>
            <a:pPr/>
            <a:r>
              <a:rPr sz="1150"/>
              <a:t> 5  Propietarios del dato       ¿Quién responde de cada cosa?</a:t>
            </a:r>
          </a:p>
          <a:p>
            <a:pPr/>
            <a:r>
              <a:rPr sz="1150"/>
              <a:t> 6  Definición de KPIs          ¿Qué significa exactamente cada uno?</a:t>
            </a:r>
          </a:p>
          <a:p>
            <a:pPr/>
            <a:r>
              <a:rPr sz="1150"/>
              <a:t> 7  Diseño del modelo           Grano, hechos, dimensiones, jerarquías</a:t>
            </a:r>
          </a:p>
          <a:p>
            <a:pPr/>
            <a:r>
              <a:rPr sz="1150"/>
              <a:t> 8  Construcción                ETL, almacén, modelo semántico</a:t>
            </a:r>
          </a:p>
          <a:p>
            <a:pPr/>
            <a:r>
              <a:rPr sz="1150"/>
              <a:t> 9  Validación con usuarios     ¿Coincide con lo que ellos saben?</a:t>
            </a:r>
          </a:p>
          <a:p>
            <a:pPr/>
            <a:r>
              <a:rPr sz="1150"/>
              <a:t>10  Puesta en producción        Orquestación, permisos, formación</a:t>
            </a:r>
          </a:p>
          <a:p>
            <a:pPr/>
            <a:r>
              <a:rPr sz="1150"/>
              <a:t>11  Evolución                   Medir el uso y responder a lo que surja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Dos observaciones sobre el orden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Proyecto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Las fases 1 a 6 no son preliminares: SON el proyecto</a:t>
            </a:r>
          </a:p>
          <a:p>
            <a:pPr lvl="1"/>
            <a:r>
              <a:rPr sz="1150"/>
              <a:t>Si están bien hechas, la 8 es mecánica.</a:t>
            </a:r>
          </a:p>
          <a:p>
            <a:pPr lvl="1"/>
            <a:r>
              <a:rPr sz="1150"/>
              <a:t>Si están mal hechas, la 8 no las arregla.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9 no es una formalidad</a:t>
            </a:r>
          </a:p>
          <a:p>
            <a:pPr lvl="1"/>
            <a:r>
              <a:rPr sz="1150"/>
              <a:t>Validar consiste en enseñarle al responsable de tienda su propia cifra y ver si la reconoce.</a:t>
            </a:r>
          </a:p>
          <a:p>
            <a:pPr lvl="1"/>
            <a:r>
              <a:rPr sz="1150"/>
              <a:t>Si no la reconoce, hay un problema —de dato, de definición o de expectativa— y hay que resolverlo ANTES de publicar.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13.3 · Los roles y qué pasa si falta alguno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De qué responde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Si falta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Patrocinador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Que el proyecto tenga prioridad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Pierde ante cualquier urgencia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Propietario del dato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Qué significa cada dato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Decide quien programa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Usuario clave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Validar que las cifras son correctas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Nadie reconoce el resultado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Analista de BI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Modelo, indicadores, cuadros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Ingeniero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Extracción, transformación, carga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Responsable de sistemas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Acceso a las fuentes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Todo se retrasa sin culpable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13.4 · La estimación realista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reparto habitual del esfuerzo en un proyecto de BI: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Análisis, definición y acuerdo de KPIs    20 %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Perfilado y calidad de los datos          25 %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Desarrollo de los procesos de carga       30 %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Modelo y cuadros de mando                 15 %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Validación, formación y ajustes           10 %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Un plan que dedique la mitad del tiempo a construir cuadros de mando está mal hecho.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Y las dependencias críticas casi nunca son técnicas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Proyecto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Permisos para leer una base de datos.</a:t>
            </a:r>
          </a:p>
          <a:p>
            <a:pPr lvl="1"/>
            <a:r>
              <a:rPr sz="1150"/>
              <a:t>Disponibilidad de la persona que conoce el sistema antiguo.</a:t>
            </a:r>
          </a:p>
          <a:p>
            <a:pPr lvl="1"/>
            <a:r>
              <a:rPr sz="1150"/>
              <a:t>Decisión pendiente sobre qué significa «cliente activo».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Conviene identificarlas al principio y hacerlas visibles</a:t>
            </a:r>
          </a:p>
          <a:p>
            <a:pPr lvl="1"/>
            <a:r>
              <a:rPr sz="1150"/>
              <a:t>Porque son las que paran el proyecto.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Proyecto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Criterio de «terminado»</a:t>
            </a:r>
          </a:p>
          <a:p>
            <a:pPr lvl="1"/>
            <a:r>
              <a:rPr sz="1100"/>
              <a:t>Debe estar escrito antes de empezar.</a:t>
            </a:r>
          </a:p>
          <a:p>
            <a:pPr lvl="1"/>
            <a:r>
              <a:rPr sz="1100"/>
              <a:t>No es «el cuadro de mando está publicado».</a:t>
            </a:r>
          </a:p>
          <a:p>
            <a:pPr lvl="1"/>
            <a:r>
              <a:rPr sz="1100"/>
              <a:t>Es algo como: «el responsable de cada tienda lo consulta semanalmente y las cifras coinciden con su cierre de caja».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Iterar</a:t>
            </a:r>
          </a:p>
          <a:p>
            <a:pPr lvl="1"/>
            <a:r>
              <a:rPr sz="1100"/>
              <a:t>La primera entrega: PEQUEÑA, COMPLETA DE PUNTA A PUNTA y ÚTIL.</a:t>
            </a:r>
          </a:p>
          <a:p>
            <a:pPr lvl="1"/>
            <a:r>
              <a:rPr sz="1100"/>
              <a:t>Un área, tres o cuatro indicadores, una fuente.</a:t>
            </a:r>
          </a:p>
          <a:p>
            <a:pPr lvl="1"/>
            <a:r>
              <a:rPr sz="1100"/>
              <a:t>Mejor un cuadro de ventas funcionando en seis semanas que un almacén corporativo completo en dieciocho meses.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El criterio de terminado y la iteración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13.5 · Los diez riesgos típicos (1 de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Cómo se manifiesta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Mitigación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Mala calidad del dato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Las cifras no cuadran con lo que sabe el negocio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Perfilar antes de planificar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Definiciones divergentes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Dos áreas llegan con dos cifras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Catálogo de KPIs con propietario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Fuentes incompatibles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Los cruces multiplican o pierden filas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Conformar y declarar el grano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Datos incompletos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Períodos o entidades sin dato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Hacer visible la ausencia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Sesgos de recogida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Sólo hay datos de una parte de la realidad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Documentar qué NO se mide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Los diez riesgos típicos (2 de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Cómo se manifiesta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Mitigación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Falta de contexto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Cifras sin objetivo ni comparación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Ningún indicador sin referencia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Indicadores mal diseñados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Ratios agregados incorrectamente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Guardar numerador y denominador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Correlación por causalidad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 decide sobre una relación no verificada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Exigir experimento o declarar hipótesis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Automatizar un error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El fallo se repite cada noche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Revisión periódica de definiciones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Cuadro que nadie usa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Uso nulo tras el entusiasmo inicial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MEDIR EL 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Hay que medir</a:t>
            </a:r>
          </a:p>
          <a:p>
            <a:pPr/>
            <a:r>
              <a:rPr sz="3000"/>
              <a:t>el uso del cuadro de mando.</a:t>
            </a:r>
          </a:p>
          <a:p>
            <a:pPr/>
            <a:r>
              <a:rPr sz="3000"/>
              <a:t>Es el dato que más dice</a:t>
            </a:r>
          </a:p>
          <a:p>
            <a:pPr/>
            <a:r>
              <a:rPr sz="3000"/>
              <a:t>sobre el éxito del proyecto.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13.6 · Un sistema de BI no se entrega: se mantiene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Proyecto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¿Qué pasa cuando una fuente cambia de estructura?</a:t>
            </a:r>
          </a:p>
          <a:p>
            <a:pPr lvl="1"/>
            <a:r>
              <a:rPr sz="1150"/>
              <a:t>¿Quién autoriza un indicador nuevo y con qué criterio?</a:t>
            </a:r>
          </a:p>
          <a:p>
            <a:pPr lvl="1"/>
            <a:r>
              <a:rPr sz="1150"/>
              <a:t>¿Cada cuánto se revisan las definiciones existentes?</a:t>
            </a:r>
          </a:p>
          <a:p>
            <a:pPr lvl="1"/>
            <a:r>
              <a:rPr sz="1150"/>
              <a:t>¿Cómo se RETIRAN los indicadores que ya nadie usa?</a:t>
            </a:r>
          </a:p>
          <a:p>
            <a:pPr lvl="1"/>
            <a:r>
              <a:rPr sz="1150"/>
              <a:t>¿Cómo se gestiona el crecimiento del volumen?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catálogo que sólo crece termina siendo inservible</a:t>
            </a:r>
          </a:p>
          <a:p>
            <a:pPr lvl="1"/>
            <a:r>
              <a:rPr sz="1150"/>
              <a:t>Retirar indicadores es tan importante como añadirlos.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1800"/>
              <a:t>El caso Rueda Libre, paso a paso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900"/>
              <a:t>V1 · El informe en hoja de cálculo</a:t>
            </a:r>
          </a:p>
          <a:p>
            <a:pPr/>
            <a:r>
              <a:rPr sz="900"/>
              <a:t>V2 · Unificar las fuentes</a:t>
            </a:r>
          </a:p>
          <a:p>
            <a:pPr/>
            <a:r>
              <a:rPr sz="900"/>
              <a:t>V3 · El modelo dimensional</a:t>
            </a:r>
          </a:p>
          <a:p>
            <a:pPr/>
            <a:r>
              <a:rPr sz="900"/>
              <a:t>V4 · El cuadro de mando</a:t>
            </a:r>
          </a:p>
          <a:p>
            <a:pPr/>
            <a:r>
              <a:rPr sz="900"/>
              <a:t>V5 · Del descriptivo al predictivo</a:t>
            </a:r>
          </a:p>
          <a:p>
            <a:pPr/>
            <a:r>
              <a:rPr sz="900"/>
              <a:t>Balance de la evolución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V1 · Dos días al mes, todos los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 que hacía Gertru el primer lunes de cada mes: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Exportar las ventas del TPV de cada una de las doce tiendas, una a una.</a:t>
            </a:r>
          </a:p>
          <a:p>
            <a:pPr/>
            <a:r>
              <a:rPr sz="1150"/>
              <a:t>2 · Exportar los pedidos de la tienda en línea.</a:t>
            </a:r>
          </a:p>
          <a:p>
            <a:pPr/>
            <a:r>
              <a:rPr sz="1150"/>
              <a:t>3 · Pegarlo todo en una hoja de cálculo.</a:t>
            </a:r>
          </a:p>
          <a:p>
            <a:pPr/>
            <a:r>
              <a:rPr sz="1150"/>
              <a:t>4 · Corregir a mano las familias de producto que no coincidían.</a:t>
            </a:r>
          </a:p>
          <a:p>
            <a:pPr/>
            <a:r>
              <a:rPr sz="1150"/>
              <a:t>5 · Cruzar con Objetivos.xlsx mediante búsquedas verticales.</a:t>
            </a:r>
          </a:p>
          <a:p>
            <a:pPr/>
            <a:r>
              <a:rPr sz="1150"/>
              <a:t>6 · Generar seis gráficos.</a:t>
            </a:r>
          </a:p>
          <a:p>
            <a:pPr/>
            <a:r>
              <a:rPr sz="1150"/>
              <a:t>7 · Enviarlo por correo a dirección y a los doce responsables.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Qué funcionaba</a:t>
            </a:r>
          </a:p>
          <a:p>
            <a:pPr lvl="1"/>
            <a:r>
              <a:rPr sz="1100"/>
              <a:t>Respondía a una pregunta REAL.</a:t>
            </a:r>
          </a:p>
          <a:p>
            <a:pPr lvl="1"/>
            <a:r>
              <a:rPr sz="1100"/>
              <a:t>Gertru conocía el negocio: descartar traspasos y homogeneizar familias era conocimiento aplicado correctamente.</a:t>
            </a:r>
          </a:p>
          <a:p>
            <a:pPr lvl="1"/>
            <a:r>
              <a:rPr sz="1100"/>
              <a:t>Por eso había durado tres años.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Qué no funcionaba</a:t>
            </a:r>
          </a:p>
          <a:p>
            <a:pPr lvl="1"/>
            <a:r>
              <a:rPr sz="1100"/>
              <a:t>24 días al año copiando y pegando.</a:t>
            </a:r>
          </a:p>
          <a:p>
            <a:pPr lvl="1"/>
            <a:r>
              <a:rPr sz="1100"/>
              <a:t>No era reproducible: el TPV purga al cerrar el ejercicio.</a:t>
            </a:r>
          </a:p>
          <a:p>
            <a:pPr lvl="1"/>
            <a:r>
              <a:rPr sz="1100"/>
              <a:t>El conocimiento estaba EN UNA PERSONA, sin escribir.</a:t>
            </a:r>
          </a:p>
          <a:p>
            <a:pPr lvl="1"/>
            <a:r>
              <a:rPr sz="1100"/>
              <a:t>No permitía preguntar nada nuevo.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V1 · El diagnóstico honesto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La primera decisión del proyecto</a:t>
            </a:r>
          </a:p>
          <a:p>
            <a:pPr/>
            <a:r>
              <a:rPr sz="3000"/>
              <a:t>no fue comprar nada.</a:t>
            </a:r>
          </a:p>
          <a:p>
            <a:pPr/>
            <a:r>
              <a:rPr sz="3000"/>
              <a:t>Fue ESCRIBIR, con Gertru,</a:t>
            </a:r>
          </a:p>
          <a:p>
            <a:pPr/>
            <a:r>
              <a:rPr sz="3000"/>
              <a:t>las quince reglas que aplicaba a mano.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V2 · El inventario de fuentes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2027681"/>
                <a:gridCol w="2027682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Grano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Historia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TPV (×12)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Línea de ticket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18 meses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Céntimos; se purga al cerrar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Tienda en línea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Pedido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Completa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Catálogo propio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Gestor de taller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Orden de reparación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Completa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Fechas nulas en abiertas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Fichero de clientes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Cliente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Completa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Duplicados masivos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ERP de compras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Albarán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 años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Coste con un mes de retraso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Objetivos.xlsx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Tienda y mes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 años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Manual; se modifica tras el cierre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Dos hallazgos que cambiaron la planificación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TPV purga los datos al cerrar el ejercicio</a:t>
            </a:r>
          </a:p>
          <a:p>
            <a:pPr lvl="1"/>
            <a:r>
              <a:rPr sz="1150"/>
              <a:t>Sólo había 18 meses de historia.</a:t>
            </a:r>
          </a:p>
          <a:p>
            <a:pPr lvl="1"/>
            <a:r>
              <a:rPr sz="1150"/>
              <a:t>La primera acción urgente fue empezar a copiar el TPV a staging ANTES de tener nada más construido, para no perder más historia.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grano del ERP no coincidía con el del TPV</a:t>
            </a:r>
          </a:p>
          <a:p>
            <a:pPr lvl="1"/>
            <a:r>
              <a:rPr sz="1150"/>
              <a:t>El coste llegaba por albarán de proveedor, no por línea de venta.</a:t>
            </a:r>
          </a:p>
          <a:p>
            <a:pPr lvl="1"/>
            <a:r>
              <a:rPr sz="1150"/>
              <a:t>Calcular el margen por ticket exigía una regla de imputación que nadie había definido nunca.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V2 · El acuerdo que costó tres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La definición oficial de «venta» de la compañía: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7101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VENTA NETA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Importe sin IVA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En la fecha del COBRO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Excluye traspasos entre tiendas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Excluye ventas a empleados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Las devoluciones restan en el mes de la devolución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7693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Se conservaron dos indicadores secundarios —venta bruta y pedidos confirmados— con nombres DISTINTOS,</a:t>
            </a:r>
          </a:p>
          <a:p>
            <a:pPr/>
            <a:r>
              <a:rPr sz="1150"/>
              <a:t>para que comercial y web pudieran seguir usando su cifra sin llamarla «ventas».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Fue la parte más difícil</a:t>
            </a:r>
          </a:p>
          <a:p>
            <a:pPr/>
            <a:r>
              <a:rPr sz="3000"/>
              <a:t>del proyecto entero.</a:t>
            </a:r>
          </a:p>
          <a:p>
            <a:pPr/>
            <a:r>
              <a:rPr sz="3000"/>
              <a:t>Y no tuvo ningún componente técnico.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V2 · El efecto de deduplicar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El fichero tenía 41.200 registros. Quedaron 28.700 clientes reales: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049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         Antes      Después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Número de clientes      41.200      28.700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Venta media por cliente     84 €       121 €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Clientes recurrentes        12 %        31 %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641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negocio no había cambiado. Lo único que cambió es que ahora se medía bien.</a:t>
            </a:r>
          </a:p>
          <a:p>
            <a:pPr/>
            <a:r>
              <a:rPr sz="1150"/>
              <a:t>El porcentaje de recurrentes, que la dirección consideraba un problema estratégico, resultó ser casi el TRIPLE de lo que se creía.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Un problema de calidad del dato</a:t>
            </a:r>
          </a:p>
          <a:p>
            <a:pPr/>
            <a:r>
              <a:rPr sz="3000"/>
              <a:t>se había convertido</a:t>
            </a:r>
          </a:p>
          <a:p>
            <a:pPr/>
            <a:r>
              <a:rPr sz="3000"/>
              <a:t>en un diagnóstico erróneo de negocio.</a:t>
            </a:r>
          </a:p>
          <a:p>
            <a:pPr/>
            <a:r>
              <a:rPr sz="3000"/>
              <a:t>Durante dos años.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V3 · La decisión del grano ocupó una sesión entera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«Una fila de HECHO_VENTAS es una LÍNEA de ticket»</a:t>
            </a:r>
          </a:p>
          <a:p>
            <a:pPr lvl="1"/>
            <a:r>
              <a:rPr sz="1150"/>
              <a:t>La alternativa —una fila por ticket— reducía el volumen a la quinta parte y era tentadora.</a:t>
            </a:r>
          </a:p>
          <a:p>
            <a:pPr lvl="1"/>
            <a:r>
              <a:rPr sz="1150"/>
              <a:t>Se descartó porque impedía PARA SIEMPRE el análisis por producto: exactamente la pregunta que había originado la versión.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«Una fila de HECHO_REPARACIONES es una orden, abierta o cerrada»</a:t>
            </a:r>
          </a:p>
          <a:p>
            <a:pPr lvl="1"/>
            <a:r>
              <a:rPr sz="1150"/>
              <a:t>Decisión de Gertru. Evitó el sesgo de supervivencia.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V3 · La regla de modelado que no se ha roto desde entonces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En las tablas de hechos sólo se guardan numeradores y denominadores: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6997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HECHO_VENTAS guarda:   importe_neto · coste · unidades · num_tickets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NO guarda:             margen_% · ticket_medio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589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Margen porcentual y ticket medio se definieron como medidas calculadas.</a:t>
            </a:r>
          </a:p>
          <a:p>
            <a:pPr/>
            <a:r>
              <a:rPr sz="1150"/>
              <a:t>Consecuencia: salen bien a cualquier nivel de agregación y con cualquier filtro, automáticamente.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Y fue esa decisión</a:t>
            </a:r>
          </a:p>
          <a:p>
            <a:pPr/>
            <a:r>
              <a:rPr sz="3000"/>
              <a:t>la que destapó el error del margen:</a:t>
            </a:r>
          </a:p>
          <a:p>
            <a:pPr/>
            <a:r>
              <a:rPr sz="3000"/>
              <a:t>el cuadro daba 20 %.</a:t>
            </a:r>
          </a:p>
          <a:p>
            <a:pPr/>
            <a:r>
              <a:rPr sz="3000"/>
              <a:t>El real era 16,6 %.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V3 · Lo que se rompió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La carga de reparaciones falló dos semanas sin que nadie lo notara</a:t>
            </a:r>
          </a:p>
          <a:p>
            <a:pPr lvl="1"/>
            <a:r>
              <a:rPr sz="1150"/>
              <a:t>Manolo teclea a mano el modelo de bicicleta cuando no lo encuentra en el desplegable.</a:t>
            </a:r>
          </a:p>
          <a:p>
            <a:pPr lvl="1"/>
            <a:r>
              <a:rPr sz="1150"/>
              <a:t>Una de sus entradas contenía un carácter que rompía el conformado.</a:t>
            </a:r>
          </a:p>
          <a:p>
            <a:pPr lvl="1"/>
            <a:r>
              <a:rPr sz="1150"/>
              <a:t>El proceso terminaba SIN ERROR y sin cargar la mitad de las órdenes.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De ahí salió la regla de validación de volumen</a:t>
            </a:r>
          </a:p>
          <a:p>
            <a:pPr lvl="1"/>
            <a:r>
              <a:rPr sz="1150"/>
              <a:t>Toda carga compara el número de registros con la media de las últimas cuatro ejecuciones y se marca incompleta si se desvía más de 2σ.</a:t>
            </a:r>
          </a:p>
          <a:p>
            <a:pPr lvl="1"/>
            <a:r>
              <a:rPr sz="1150"/>
              <a:t>Es el capítulo 5 aplicado a la operación.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V4 · Tres cuadros de mando, no uno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OPERATIVO · encargado de turno</a:t>
            </a:r>
          </a:p>
          <a:p>
            <a:pPr lvl="1"/>
            <a:r>
              <a:rPr sz="1150"/>
              <a:t>Reparaciones pendientes, las que superan plazo, stock bajo mínimo. Continuo, detalle al registro.</a:t>
            </a:r>
          </a:p>
          <a:p>
            <a:pPr/>
            <a:r>
              <a:rPr sz="1300" b="1"/>
              <a:t>TÁCTICO · responsable de tienda</a:t>
            </a:r>
          </a:p>
          <a:p>
            <a:pPr lvl="1"/>
            <a:r>
              <a:rPr sz="1150"/>
              <a:t>Venta frente a objetivo, ticket medio con distribución, margen por familia, tiempo de reparación con mediana y P90. Diario, con drill-down.</a:t>
            </a:r>
          </a:p>
          <a:p>
            <a:pPr/>
            <a:r>
              <a:rPr sz="1300" b="1"/>
              <a:t>ESTRATÉGICO · dirección</a:t>
            </a:r>
          </a:p>
          <a:p>
            <a:pPr lvl="1"/>
            <a:r>
              <a:rPr sz="1150"/>
              <a:t>Seis indicadores, cada uno con objetivo, interanual y distribución entre tiendas. Mensual.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V4 · La auditoría previa a publicar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Problema encontrado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Corrección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Margen de cadena como media de porcentajes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Recalcular desde totales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Gráfico de ventas con eje desde 130.000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Eje desde cero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«Satisfacción media 4,3» sin distribución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Añadir % de valoraciones 1 y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Ranking de tiendas sin volumen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Añadir muestra; ocultar bajo 30 casos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Comparación con el mes anterior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Sustituir por interanual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Sectores con nueve familias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Barras horizontales ordenadas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Diez indicadores sin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Definir objetivo o retirar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Siete correcciones.</a:t>
            </a:r>
          </a:p>
          <a:p>
            <a:pPr/>
            <a:r>
              <a:rPr sz="3000"/>
              <a:t>Ninguna era un fallo técnico:</a:t>
            </a:r>
          </a:p>
          <a:p>
            <a:pPr/>
            <a:r>
              <a:rPr sz="3000"/>
              <a:t>todas eran errores conceptuales</a:t>
            </a:r>
          </a:p>
          <a:p>
            <a:pPr/>
            <a:r>
              <a:rPr sz="3000"/>
              <a:t>sobre un cuadro que funcionaba.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V5 · Antes de predecir, descomponer la serie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Dos años de historia limpia: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095756"/>
          </a:xfrm>
          <a:prstGeom prst="rect">
            <a:avLst/>
          </a:prstGeom>
          <a:noFill/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Tendencia         +4,1 % anual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Estacionalidad    Abril-septiembre concentra el 68 % de la venta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                  Sábado es el mejor día (2,3× la media semanal)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Ciclo             No identificable con dos años de historia</a:t>
            </a:r>
          </a:p>
          <a:p>
            <a:pPr/>
            <a:r>
              <a:rPr sz="1150">
                <a:solidFill>
                  <a:srgbClr val="1C1E3B"/>
                </a:solidFill>
                <a:latin typeface="Menlo"/>
              </a:rPr>
              <a:t>Ruido             ±7 % mensual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1676"/>
            <a:ext cx="8110727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El último dato fue el más útil de los cuatro y no requirió ningún modelo:</a:t>
            </a:r>
          </a:p>
          <a:p>
            <a:pPr/>
            <a:r>
              <a:rPr sz="1150"/>
              <a:t>las reuniones de urgencia por caídas del 5 % llevaban dos años convocándose POR RUIDO.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V5 · Los cuatro modelos, comparados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Todos comparados contra el ingenuo estacional, que es la referencia obligatoria.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2"/>
                <a:gridCol w="4055363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 medio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Ingenuo (mes anterior)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31 %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Ingenuo estacional (mismo mes año anterior)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9,4 %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Media móvil de 12 meses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Suavizado exponencial con estacionalidad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6,8 %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 conclusión que se llevó a dirección fue honesta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sz="1150"/>
              <a:t>«El modelo sofisticado aporta 2,6 puntos de precisión sobre mirar el mismo mes del año pasado.»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 esa información, dirección decidió adoptarlo</a:t>
            </a:r>
          </a:p>
          <a:p>
            <a:pPr lvl="1"/>
            <a:r>
              <a:rPr sz="1150"/>
              <a:t>Pero sabiendo lo que compraba.</a:t>
            </a:r>
          </a:p>
          <a:p>
            <a:pPr lvl="1"/>
            <a:r>
              <a:rPr sz="1150"/>
              <a:t>Que es exactamente de lo que trata este curso.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V5 · El límite que se decidió no cruzar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Se planteó automatizar el pedido de stock a partir del pronóstico</a:t>
            </a:r>
          </a:p>
          <a:p>
            <a:pPr lvl="1"/>
            <a:r>
              <a:rPr sz="1150"/>
              <a:t>Se descartó por el riesgo de REALIMENTACIÓN.</a:t>
            </a:r>
          </a:p>
          <a:p>
            <a:pPr lvl="1"/>
            <a:r>
              <a:rPr sz="1150"/>
              <a:t>Si el pronóstico determina el pedido y el pedido determina la venta —porque no se puede vender lo que no está en la tienda—, el modelo acabaría prediciendo su propia decisión.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solución</a:t>
            </a:r>
          </a:p>
          <a:p>
            <a:pPr lvl="1"/>
            <a:r>
              <a:rPr sz="1150"/>
              <a:t>Mantener el pronóstico como PROPUESTA revisada por compras.</a:t>
            </a:r>
          </a:p>
          <a:p>
            <a:pPr lvl="1"/>
            <a:r>
              <a:rPr sz="1150"/>
              <a:t>Y medir aparte la demanda perdida por rotura de stock.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Balance · lo que costó cada salto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703575"/>
                <a:gridCol w="2703575"/>
              </a:tblGrid>
              <a:tr h="283464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Versión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</a:rPr>
                        <a:t>Esfuerzo principal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V2 · Unificar fuentes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9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 en calidad de datos y definiciones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V3 · Modelo dimensional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6 semanas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2 sólo en decidir el grano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V4 · Cuadros de mando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4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1 en la auditoría previa a publicar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V5 · Predictivo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5 semanas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>
                          <a:solidFill>
                            <a:srgbClr val="1C1E3B"/>
                          </a:solidFill>
                        </a:rPr>
                        <a:t>3 en validar que el descriptivo aguantaba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24 semanas en total.</a:t>
            </a:r>
          </a:p>
          <a:p>
            <a:pPr/>
            <a:r>
              <a:rPr sz="3000"/>
              <a:t>14 en datos y definiciones.</a:t>
            </a:r>
          </a:p>
          <a:p>
            <a:pPr/>
            <a:r>
              <a:rPr sz="3000"/>
              <a:t>4 en construir cuadros de mando.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Balance · lo que no está bien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El caso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 b="1"/>
              <a:t>El coste sigue imputándose por una regla aproximada</a:t>
            </a:r>
          </a:p>
          <a:p>
            <a:pPr lvl="1"/>
            <a:r>
              <a:rPr sz="1150"/>
              <a:t>El margen por producto individual es orientativo, y así está marcado en el cuadro de mando.</a:t>
            </a:r>
          </a:p>
          <a:p>
            <a:pPr/>
            <a:r>
              <a:rPr sz="1300" b="1"/>
              <a:t>Objetivos.xlsx sigue siendo un fichero manual</a:t>
            </a:r>
          </a:p>
          <a:p>
            <a:pPr lvl="1"/>
            <a:r>
              <a:rPr sz="1150"/>
              <a:t>Hay validación de modificaciones retroactivas, pero depende de una persona.</a:t>
            </a:r>
          </a:p>
          <a:p>
            <a:pPr/>
            <a:r>
              <a:rPr sz="1300" b="1"/>
              <a:t>No hay medición de la demanda perdida</a:t>
            </a:r>
          </a:p>
          <a:p>
            <a:pPr lvl="1"/>
            <a:r>
              <a:rPr sz="1150"/>
              <a:t>Lo que sesga a la baja todos los análisis de demanda.</a:t>
            </a:r>
          </a:p>
          <a:p>
            <a:pPr/>
            <a:r>
              <a:rPr sz="1300" b="1"/>
              <a:t>Cuatro de las doce tiendas apenas abren el cuadro operativo</a:t>
            </a:r>
          </a:p>
          <a:p>
            <a:pPr lvl="1"/>
            <a:r>
              <a:rPr sz="1150"/>
              <a:t>Pendiente averiguar si es diseño, formación o que no era un problema.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cinco lecciones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Lo que queda cuando el proyecto termina: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/>
              <a:t>1 · El proyecto no empezó al comprar la herramienta. Empezó al ESCRIBIR las</a:t>
            </a:r>
          </a:p>
          <a:p>
            <a:pPr/>
            <a:r>
              <a:rPr sz="1000"/>
              <a:t>    reglas que Gertru aplicaba a mano.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2 · El hallazgo más valioso fue de CALIDAD DE DATOS, no de análisis.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3 · El error más caro fue CONCEPTUAL, no técnico: promediar porcentajes</a:t>
            </a:r>
          </a:p>
          <a:p>
            <a:pPr/>
            <a:r>
              <a:rPr sz="1000"/>
              <a:t>    desvió la política de precios de un año entero.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4 · Publicar la DISPERSIÓN cambió una decisión de negocio.</a:t>
            </a:r>
          </a:p>
          <a:p>
            <a:pPr/>
            <a:r>
              <a:rPr sz="1000"/>
              <a:t/>
            </a:r>
          </a:p>
          <a:p>
            <a:pPr/>
            <a:r>
              <a:rPr sz="1000"/>
              <a:t>5 · Lo más difícil no tuvo componente técnico: fueron las tres semanas</a:t>
            </a:r>
          </a:p>
          <a:p>
            <a:pPr/>
            <a:r>
              <a:rPr sz="1000"/>
              <a:t>    hasta acordar qué significa «venta».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Business Intelligence</a:t>
            </a:r>
          </a:p>
          <a:p>
            <a:pPr/>
            <a:r>
              <a:rPr sz="3000"/>
              <a:t>no consiste en hacer gráficos.</a:t>
            </a:r>
          </a:p>
          <a:p>
            <a:pPr/>
            <a:r>
              <a:rPr sz="3000"/>
              <a:t>Consiste en transformar datos en evidencia</a:t>
            </a:r>
          </a:p>
          <a:p>
            <a:pPr/>
            <a:r>
              <a:rPr sz="3000"/>
              <a:t>para tomar decisiones.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300"/>
              <a:t>Las nueve preguntas, otra vez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Son con lo que hay que salir de este curso. No requieren ninguna tecnología: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/>
              <a:t>1 · ¿Qué estoy midiendo exactamente?</a:t>
            </a:r>
          </a:p>
          <a:p>
            <a:pPr/>
            <a:r>
              <a:rPr sz="1150"/>
              <a:t>2 · ¿De dónde viene el dato?</a:t>
            </a:r>
          </a:p>
          <a:p>
            <a:pPr/>
            <a:r>
              <a:rPr sz="1150"/>
              <a:t>3 · ¿Es comparable con aquello con lo que lo comparo?</a:t>
            </a:r>
          </a:p>
          <a:p>
            <a:pPr/>
            <a:r>
              <a:rPr sz="1150"/>
              <a:t>4 · ¿Qué distribución tiene?</a:t>
            </a:r>
          </a:p>
          <a:p>
            <a:pPr/>
            <a:r>
              <a:rPr sz="1150"/>
              <a:t>5 · ¿Es representativa la media?</a:t>
            </a:r>
          </a:p>
          <a:p>
            <a:pPr/>
            <a:r>
              <a:rPr sz="1150"/>
              <a:t>6 · ¿Hay valores extremos y qué significan?</a:t>
            </a:r>
          </a:p>
          <a:p>
            <a:pPr/>
            <a:r>
              <a:rPr sz="1150"/>
              <a:t>7 · ¿Estoy comparando poblaciones equivalentes?</a:t>
            </a:r>
          </a:p>
          <a:p>
            <a:pPr/>
            <a:r>
              <a:rPr sz="1150"/>
              <a:t>8 · ¿Existe realmente una tendencia?</a:t>
            </a:r>
          </a:p>
          <a:p>
            <a:pPr/>
            <a:r>
              <a:rPr sz="1150"/>
              <a:t>9 · ¿Qué decisión tomaría con este dato?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555B6B"/>
                </a:solidFill>
              </a:rPr>
              <a:t>Manual · parte II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800"/>
              <a:t>Cierre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50" b="1"/>
              <a:t>La escalera continúa</a:t>
            </a:r>
          </a:p>
          <a:p>
            <a:pPr lvl="1"/>
            <a:r>
              <a:rPr sz="1100"/>
              <a:t>BI descriptiva → diagnóstica → predictiva → prescriptiva.</a:t>
            </a:r>
          </a:p>
          <a:p>
            <a:pPr lvl="1"/>
            <a:r>
              <a:rPr sz="1100"/>
              <a:t>Y por encima: IA generativa y agentes.</a:t>
            </a:r>
          </a:p>
          <a:p>
            <a:pPr lvl="1"/>
            <a:r>
              <a:rPr sz="1100"/>
              <a:t>Consultar en lenguaje natural, generar medidas, explicar anomalías, redactar la narrativa de negocio.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sz="1250" b="1"/>
              <a:t>Con una idea crítica</a:t>
            </a:r>
          </a:p>
          <a:p>
            <a:pPr lvl="1"/>
            <a:r>
              <a:rPr sz="1100"/>
              <a:t>La IA no sustituye la comprensión estadística ni la del negocio.</a:t>
            </a:r>
          </a:p>
          <a:p>
            <a:pPr lvl="1"/>
            <a:r>
              <a:rPr sz="1100"/>
              <a:t>Si no se entienden media, dispersión, sesgo, correlación, muestra e incertidumbre…</a:t>
            </a:r>
          </a:p>
          <a:p>
            <a:pPr lvl="1"/>
            <a:r>
              <a:rPr sz="1100"/>
              <a:t>la IA permite llegar a conclusiones incorrectas MUCHO MÁS DEPRISA.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pPr/>
            <a:r>
              <a:rPr sz="2300"/>
              <a:t>Y lo que viene después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000"/>
              <a:t>Gracias.</a:t>
            </a:r>
          </a:p>
          <a:p>
            <a:pPr/>
            <a:r>
              <a:rPr sz="3000"/>
              <a:t>Manolo, Gertru y un servidor</a:t>
            </a:r>
          </a:p>
          <a:p>
            <a:pPr/>
            <a:r>
              <a:rPr sz="3000"/>
              <a:t>os esperamos en la masterclass.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1B1D39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